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4" r:id="rId11"/>
    <p:sldId id="265" r:id="rId12"/>
  </p:sldIdLst>
  <p:sldSz cx="12192000" cy="6858000"/>
  <p:notesSz cx="6858000" cy="9144000"/>
  <p:embeddedFontLst>
    <p:embeddedFont>
      <p:font typeface="JetBrains Mono" panose="020B0604020202020204" charset="0"/>
      <p:regular r:id="rId14"/>
      <p:bold r:id="rId15"/>
      <p:italic r:id="rId16"/>
      <p:boldItalic r:id="rId17"/>
    </p:embeddedFont>
    <p:embeddedFont>
      <p:font typeface="Plus Jakarta Sans"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56" dt="2026-09-29T22:47:16.593"/>
    <p1510:client id="{A998F5E6-D6D5-4335-867E-33733440A072}" v="272" dt="2026-09-30T00:34:53.3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We pulled HUD-USPS residential ratio crosswalks for Harris (224 ZIPs), Fort Bend (31 ZIPs), and Galveston (24 ZIPs) counties to capture the full, residential metropolitan area without dropping rural or suburban pockets. </a:t>
            </a: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t>Pillar 1 — Programmatic / Deterministic Cost Engine: Calculates exact dollar figures using fixed legal rate cards, tariff schedules, municipal water schedules, and USDA food cost formulas. </a:t>
            </a:r>
          </a:p>
          <a:p>
            <a:pPr marL="171450" indent="-171450"/>
            <a:r>
              <a:rPr lang="en-US" dirty="0"/>
              <a:t>Pillar 2 — Machine Learning / Unsupervised Spatial Clustering: Uses K-Means clustering on 20 geospatial and physical risk features (flood zones, NFIP claim counts, utility territories) to group 279 ZIP codes into 4 distinct "cost and risk archetypes".</a:t>
            </a:r>
          </a:p>
          <a:p>
            <a:pPr marL="0" lvl="0" indent="0" algn="l">
              <a:spcBef>
                <a:spcPts val="0"/>
              </a:spcBef>
              <a:spcAft>
                <a:spcPts val="0"/>
              </a:spcAft>
              <a:buNone/>
            </a:pPr>
            <a:endParaRPr dirty="0"/>
          </a:p>
          <a:p>
            <a:pPr marL="171450" indent="-171450"/>
            <a:r>
              <a:rPr lang="en-US" dirty="0"/>
              <a:t>Utility rates and insurance mandates are dictated by statutory rules and published tariff rate cards, not random continuous variables. It is mathematically more accurate to compute published rates deterministically while using ML (K-Means) to discover geographic risk patterns and cost archetypes across continuous multi-dimensional space. </a:t>
            </a:r>
          </a:p>
          <a:p>
            <a:pPr marL="0" indent="0">
              <a:buNone/>
            </a:pPr>
            <a:endParaRPr lang="en-US" dirty="0"/>
          </a:p>
          <a:p>
            <a:pPr marL="171450" indent="-171450"/>
            <a:r>
              <a:rPr lang="en-US" dirty="0"/>
              <a:t>The Silhouette score measures two things: how tight data points are inside their own cluster, and how far apart they are from neighboring clusters. 'Silhouette-optimized' means we validated our choice of 4 clusters mathematically to prove our groupings are distinct, well-separated, and not arbitrarily picked.</a:t>
            </a:r>
          </a:p>
        </p:txBody>
      </p:sp>
      <p:sp>
        <p:nvSpPr>
          <p:cNvPr id="123" name="Google Shape;12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Digital redlining is when an AI model or algorithm uses proxy data to unfairly discriminate against specific neighborhoods or demographics. We prevented this in our capstone by following the NIST AI RMF 1.0 framework—explicitly stripping out all racial, income, and demographic features so our engine relies strictly on objective physical hazards and published utility tariffs.</a:t>
            </a:r>
          </a:p>
        </p:txBody>
      </p:sp>
      <p:sp>
        <p:nvSpPr>
          <p:cNvPr id="159" name="Google Shape;1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t>Instead of loading the entire 1.07 GB CSV into memory at once, pandas reads 100,000 rows at a time, immediately filters out unneeded counties, and discards the rest. This kept our RAM consumption at roughly 15 KB.</a:t>
            </a:r>
          </a:p>
          <a:p>
            <a:pPr marL="0" indent="0">
              <a:buNone/>
            </a:pPr>
            <a:endParaRPr lang="en-US" dirty="0"/>
          </a:p>
          <a:p>
            <a:pPr marL="171450" indent="-171450"/>
            <a:r>
              <a:rPr lang="en-US" dirty="0"/>
              <a:t>A vector shapefile uses precise geometric polygons and lines to define clean boundaries like ZIP code borders, whereas a </a:t>
            </a:r>
            <a:r>
              <a:rPr lang="en-US" dirty="0" err="1"/>
              <a:t>GeoTIFF</a:t>
            </a:r>
            <a:r>
              <a:rPr lang="en-US" dirty="0"/>
              <a:t> raster represents data as a grid of pixels where each cell contains spatial values. We faced a data engineering hurdle because FEMA provided flood data as raster images instead of vectors, requiring us to build a spatial fallback script to handle the mismatch.</a:t>
            </a:r>
          </a:p>
          <a:p>
            <a:pPr marL="0" indent="0">
              <a:buNone/>
            </a:pPr>
            <a:endParaRPr lang="en-US" dirty="0"/>
          </a:p>
          <a:p>
            <a:pPr marL="171450" indent="-171450"/>
            <a:r>
              <a:rPr lang="en-US" dirty="0"/>
              <a:t>A spatial fallback script is a backup routine that keeps the pipeline running when primary geographic data is missing or formatted incorrectly. For instance, when FEMA provided raster map files instead of vector shapes, our fallback script stepped in to use historical claim density thresholds as a proxy, ensuring every ZIP code still received an accurate risk tier assignment without breaking the script.</a:t>
            </a:r>
          </a:p>
        </p:txBody>
      </p:sp>
      <p:sp>
        <p:nvSpPr>
          <p:cNvPr id="187" name="Google Shape;18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t>A </a:t>
            </a:r>
            <a:r>
              <a:rPr lang="en-US" dirty="0" err="1"/>
              <a:t>ColumnTransformer</a:t>
            </a:r>
            <a:r>
              <a:rPr lang="en-US" dirty="0"/>
              <a:t> allowed us to process mixed data types simultaneously—routing continuous numbers to a </a:t>
            </a:r>
            <a:r>
              <a:rPr lang="en-US" dirty="0" err="1"/>
              <a:t>StandardScaler</a:t>
            </a:r>
            <a:r>
              <a:rPr lang="en-US" dirty="0"/>
              <a:t> and categorical text to a One-Hot Encoder. We needed </a:t>
            </a:r>
            <a:r>
              <a:rPr lang="en-US" dirty="0" err="1"/>
              <a:t>StandardScaler</a:t>
            </a:r>
            <a:r>
              <a:rPr lang="en-US" dirty="0"/>
              <a:t> because K-Means uses Euclidean distance; without it, large unscaled variables like flood claims (up to 8,000) would completely distort features with small decimals like utility rates ($0.03). Our top encoded features combine physical hazards—like 100-year floodplain percentages and NFIP claim counts—with infrastructure metrics like utility providers and MUD water governance.</a:t>
            </a:r>
          </a:p>
          <a:p>
            <a:pPr marL="0" indent="0">
              <a:buNone/>
            </a:pPr>
            <a:endParaRPr lang="en-US" dirty="0"/>
          </a:p>
          <a:p>
            <a:pPr marL="171450" indent="-171450"/>
            <a:r>
              <a:rPr lang="en-US" b="1" dirty="0"/>
              <a:t>Top 3 Encoded Features:</a:t>
            </a:r>
          </a:p>
          <a:p>
            <a:r>
              <a:rPr lang="en-US" b="1" dirty="0"/>
              <a:t>pct_area_100yr_flood:</a:t>
            </a:r>
            <a:r>
              <a:rPr lang="en-US" dirty="0"/>
              <a:t> The percentage of a ZIP code's geographic area residing within the 100-year AE floodplain, processed via </a:t>
            </a:r>
            <a:r>
              <a:rPr lang="en-US" dirty="0" err="1"/>
              <a:t>StandardScaler</a:t>
            </a:r>
            <a:r>
              <a:rPr lang="en-US" dirty="0"/>
              <a:t>. </a:t>
            </a:r>
          </a:p>
          <a:p>
            <a:r>
              <a:rPr lang="en-US" b="1" dirty="0" err="1"/>
              <a:t>pct_area_coastal_surge</a:t>
            </a:r>
            <a:r>
              <a:rPr lang="en-US" b="1" dirty="0"/>
              <a:t>:</a:t>
            </a:r>
            <a:r>
              <a:rPr lang="en-US" dirty="0"/>
              <a:t> The percentage of area within high-velocity VE coastal surge zones, critical for isolating high-risk waterfront zones. </a:t>
            </a:r>
          </a:p>
          <a:p>
            <a:r>
              <a:rPr lang="en-US" b="1" dirty="0" err="1"/>
              <a:t>nfip_total_claims</a:t>
            </a:r>
            <a:r>
              <a:rPr lang="en-US" b="1" dirty="0"/>
              <a:t>:</a:t>
            </a:r>
            <a:r>
              <a:rPr lang="en-US" dirty="0"/>
              <a:t> The total historical flood claim count per ZIP code from FEMA data, measuring actual real-world damage frequency.</a:t>
            </a:r>
          </a:p>
        </p:txBody>
      </p:sp>
      <p:sp>
        <p:nvSpPr>
          <p:cNvPr id="221" name="Google Shape;22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If a feature has identical values across all 279 ZIP codes, it provides zero mathematical separation between points in Euclidean space. Including it adds unnecessary dimensionality without aiding cluster formation. </a:t>
            </a:r>
          </a:p>
        </p:txBody>
      </p:sp>
      <p:sp>
        <p:nvSpPr>
          <p:cNvPr id="252" name="Google Shape;25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t>The Silhouette score evaluates both internal cohesion—how tightly packed the ZIP codes are within each of our 4 clusters—and external separation—how distinct each cluster is from the others. Our score of 0.6670 is the overall average across all 279 ZIP codes, proving strong internal grouping and clear regional separation.</a:t>
            </a:r>
          </a:p>
          <a:p>
            <a:pPr marL="0" indent="0">
              <a:buNone/>
            </a:pPr>
            <a:endParaRPr lang="en-US" dirty="0"/>
          </a:p>
          <a:p>
            <a:pPr marL="171450" indent="-171450"/>
            <a:r>
              <a:rPr lang="en-US" dirty="0"/>
              <a:t>We fed the algorithm the raw input features (flood percentages, utility rates, and claim counts) without any labels, and let </a:t>
            </a:r>
            <a:r>
              <a:rPr lang="en-US" b="1" dirty="0"/>
              <a:t>K-Means</a:t>
            </a:r>
            <a:r>
              <a:rPr lang="en-US" dirty="0"/>
              <a:t> discover the natural groupings entirely on its own based on mathematical similarity. It explored the data and found the 4 hidden archetypes purely through distance calculations. </a:t>
            </a:r>
          </a:p>
        </p:txBody>
      </p:sp>
      <p:sp>
        <p:nvSpPr>
          <p:cNvPr id="284" name="Google Shape;28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A cost cliff is an abrupt, non-linear increase in living expenses caused by crossing a political or statutory boundary—such as moving across a street into a Municipal Utility District (MUD) or crossing a coastal windstorm insurance tier boundary. </a:t>
            </a:r>
          </a:p>
        </p:txBody>
      </p:sp>
      <p:sp>
        <p:nvSpPr>
          <p:cNvPr id="326" name="Google Shape;3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t>It proves that using broad county or metropolitan averages creates a $2,482 annual error for coastal families and artificially inflates estimates for urban residents. Our granular spatial-tariff engine eliminates this estimation bias by capturing true hyper-local expenses. </a:t>
            </a:r>
          </a:p>
          <a:p>
            <a:pPr marL="171450" indent="-171450"/>
            <a:endParaRPr lang="en-US" dirty="0"/>
          </a:p>
          <a:p>
            <a:pPr marL="171450" indent="-171450"/>
            <a:r>
              <a:rPr lang="en-US" dirty="0"/>
              <a:t>Platforms like Zillow and HAR focus primarily on mortgage-linked costs like principal, interest, and property taxes. Our engine fills the blind spot by estimating the hidden, non-mortgage operating costs—such as suburban MUD water penalties, regulated electric delivery tariffs, and mandatory coastal windstorm insurance. By combining deterministic tariff calculations with unsupervised spatial clustering, we uncover hyper-local cost cliffs that traditional real estate platforms miss entirely.</a:t>
            </a:r>
          </a:p>
        </p:txBody>
      </p:sp>
      <p:sp>
        <p:nvSpPr>
          <p:cNvPr id="361" name="Google Shape;36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Shape 83"/>
        <p:cNvGrpSpPr/>
        <p:nvPr/>
      </p:nvGrpSpPr>
      <p:grpSpPr>
        <a:xfrm>
          <a:off x="0" y="0"/>
          <a:ext cx="0" cy="0"/>
          <a:chOff x="0" y="0"/>
          <a:chExt cx="0" cy="0"/>
        </a:xfrm>
      </p:grpSpPr>
      <p:sp>
        <p:nvSpPr>
          <p:cNvPr id="84" name="Google Shape;84;p13"/>
          <p:cNvSpPr/>
          <p:nvPr/>
        </p:nvSpPr>
        <p:spPr>
          <a:xfrm>
            <a:off x="800100" y="5448300"/>
            <a:ext cx="10591800" cy="723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 name="Google Shape;85;p13"/>
          <p:cNvSpPr/>
          <p:nvPr/>
        </p:nvSpPr>
        <p:spPr>
          <a:xfrm>
            <a:off x="800100" y="4251870"/>
            <a:ext cx="685800" cy="38100"/>
          </a:xfrm>
          <a:prstGeom prst="roundRect">
            <a:avLst>
              <a:gd name="adj" fmla="val 50000"/>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3"/>
          <p:cNvSpPr/>
          <p:nvPr/>
        </p:nvSpPr>
        <p:spPr>
          <a:xfrm>
            <a:off x="800100" y="5448300"/>
            <a:ext cx="10591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p:nvPr/>
        </p:nvSpPr>
        <p:spPr>
          <a:xfrm>
            <a:off x="8629650" y="5898308"/>
            <a:ext cx="2485160" cy="268483"/>
          </a:xfrm>
          <a:prstGeom prst="roundRect">
            <a:avLst>
              <a:gd name="adj" fmla="val 16666"/>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88" name="Google Shape;88;p13" descr="image.png"/>
          <p:cNvPicPr preferRelativeResize="0"/>
          <p:nvPr/>
        </p:nvPicPr>
        <p:blipFill rotWithShape="1">
          <a:blip r:embed="rId3">
            <a:alphaModFix/>
          </a:blip>
          <a:srcRect/>
          <a:stretch/>
        </p:blipFill>
        <p:spPr>
          <a:xfrm>
            <a:off x="800100" y="685800"/>
            <a:ext cx="209550" cy="209550"/>
          </a:xfrm>
          <a:prstGeom prst="rect">
            <a:avLst/>
          </a:prstGeom>
          <a:noFill/>
          <a:ln>
            <a:noFill/>
          </a:ln>
        </p:spPr>
      </p:pic>
      <p:sp>
        <p:nvSpPr>
          <p:cNvPr id="89" name="Google Shape;89;p13"/>
          <p:cNvSpPr txBox="1"/>
          <p:nvPr/>
        </p:nvSpPr>
        <p:spPr>
          <a:xfrm>
            <a:off x="1123950" y="700087"/>
            <a:ext cx="4851796"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38BDF8"/>
                </a:solidFill>
                <a:latin typeface="Plus Jakarta Sans"/>
                <a:ea typeface="Plus Jakarta Sans"/>
                <a:cs typeface="Plus Jakarta Sans"/>
                <a:sym typeface="Plus Jakarta Sans"/>
              </a:rPr>
              <a:t>CAPSTONE PROJECT PROGRESS • WEEKS 4 – 6</a:t>
            </a:r>
            <a:endParaRPr/>
          </a:p>
        </p:txBody>
      </p:sp>
      <p:sp>
        <p:nvSpPr>
          <p:cNvPr id="90" name="Google Shape;90;p13"/>
          <p:cNvSpPr txBox="1"/>
          <p:nvPr/>
        </p:nvSpPr>
        <p:spPr>
          <a:xfrm>
            <a:off x="800100" y="1678204"/>
            <a:ext cx="9901200" cy="1290600"/>
          </a:xfrm>
          <a:prstGeom prst="rect">
            <a:avLst/>
          </a:prstGeom>
          <a:noFill/>
          <a:ln>
            <a:noFill/>
          </a:ln>
        </p:spPr>
        <p:txBody>
          <a:bodyPr spcFirstLastPara="1" wrap="square" lIns="0" tIns="0" rIns="0" bIns="0" anchor="t" anchorCtr="0">
            <a:spAutoFit/>
          </a:bodyPr>
          <a:lstStyle/>
          <a:p>
            <a:pPr marL="0" marR="0" lvl="0" indent="0" algn="l" rtl="0">
              <a:lnSpc>
                <a:spcPct val="114974"/>
              </a:lnSpc>
              <a:spcBef>
                <a:spcPts val="0"/>
              </a:spcBef>
              <a:spcAft>
                <a:spcPts val="0"/>
              </a:spcAft>
              <a:buNone/>
            </a:pPr>
            <a:r>
              <a:rPr lang="en-US" sz="3900" b="1" i="0" u="none" strike="noStrike" cap="none">
                <a:solidFill>
                  <a:srgbClr val="FFFFFF"/>
                </a:solidFill>
                <a:latin typeface="Plus Jakarta Sans"/>
                <a:ea typeface="Plus Jakarta Sans"/>
                <a:cs typeface="Plus Jakarta Sans"/>
                <a:sym typeface="Plus Jakarta Sans"/>
              </a:rPr>
              <a:t>Non-Mortgage Living Expense Estimation Engine</a:t>
            </a:r>
            <a:endParaRPr/>
          </a:p>
        </p:txBody>
      </p:sp>
      <p:sp>
        <p:nvSpPr>
          <p:cNvPr id="91" name="Google Shape;91;p13"/>
          <p:cNvSpPr txBox="1"/>
          <p:nvPr/>
        </p:nvSpPr>
        <p:spPr>
          <a:xfrm>
            <a:off x="800100" y="3345209"/>
            <a:ext cx="8191500" cy="665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a:solidFill>
                  <a:srgbClr val="94A3B8"/>
                </a:solidFill>
                <a:latin typeface="Plus Jakarta Sans"/>
                <a:ea typeface="Plus Jakarta Sans"/>
                <a:cs typeface="Plus Jakarta Sans"/>
                <a:sym typeface="Plus Jakarta Sans"/>
              </a:rPr>
              <a:t>An overview of weeks 4 - 6, ranging from Data Sourcing, Preprocessing, and Model Training</a:t>
            </a:r>
            <a:endParaRPr/>
          </a:p>
        </p:txBody>
      </p:sp>
      <p:sp>
        <p:nvSpPr>
          <p:cNvPr id="92" name="Google Shape;92;p13"/>
          <p:cNvSpPr txBox="1"/>
          <p:nvPr/>
        </p:nvSpPr>
        <p:spPr>
          <a:xfrm>
            <a:off x="800100" y="5724525"/>
            <a:ext cx="8203406"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64748B"/>
                </a:solidFill>
                <a:latin typeface="Plus Jakarta Sans"/>
                <a:ea typeface="Plus Jakarta Sans"/>
                <a:cs typeface="Plus Jakarta Sans"/>
                <a:sym typeface="Plus Jakarta Sans"/>
              </a:rPr>
              <a:t>PROJECT CONTRIBUTORS</a:t>
            </a:r>
            <a:endParaRPr/>
          </a:p>
        </p:txBody>
      </p:sp>
      <p:sp>
        <p:nvSpPr>
          <p:cNvPr id="93" name="Google Shape;93;p13"/>
          <p:cNvSpPr txBox="1"/>
          <p:nvPr/>
        </p:nvSpPr>
        <p:spPr>
          <a:xfrm>
            <a:off x="800100" y="5953125"/>
            <a:ext cx="82035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E2E8F0"/>
                </a:solidFill>
                <a:latin typeface="Plus Jakarta Sans"/>
                <a:ea typeface="Plus Jakarta Sans"/>
                <a:cs typeface="Plus Jakarta Sans"/>
                <a:sym typeface="Plus Jakarta Sans"/>
              </a:rPr>
              <a:t>Group 5: Brandon Matias, Khadijah Patience, </a:t>
            </a:r>
            <a:r>
              <a:rPr lang="en-US" sz="1350" b="1">
                <a:solidFill>
                  <a:srgbClr val="E2E8F0"/>
                </a:solidFill>
                <a:latin typeface="Plus Jakarta Sans"/>
                <a:ea typeface="Plus Jakarta Sans"/>
                <a:cs typeface="Plus Jakarta Sans"/>
                <a:sym typeface="Plus Jakarta Sans"/>
              </a:rPr>
              <a:t>Taki Eddine Boubekri, Jonah Joseph</a:t>
            </a:r>
            <a:endParaRPr/>
          </a:p>
        </p:txBody>
      </p:sp>
      <p:sp>
        <p:nvSpPr>
          <p:cNvPr id="94" name="Google Shape;94;p13"/>
          <p:cNvSpPr txBox="1"/>
          <p:nvPr/>
        </p:nvSpPr>
        <p:spPr>
          <a:xfrm>
            <a:off x="8732569" y="5984669"/>
            <a:ext cx="2552700" cy="161583"/>
          </a:xfrm>
          <a:prstGeom prst="rect">
            <a:avLst/>
          </a:prstGeom>
          <a:noFill/>
          <a:ln>
            <a:noFill/>
          </a:ln>
        </p:spPr>
        <p:txBody>
          <a:bodyPr spcFirstLastPara="1" wrap="square" lIns="0" tIns="0" rIns="0" bIns="0" anchor="t" anchorCtr="0">
            <a:spAutoFit/>
          </a:bodyPr>
          <a:lstStyle/>
          <a:p>
            <a:r>
              <a:rPr lang="en-US" sz="1050" dirty="0">
                <a:solidFill>
                  <a:srgbClr val="38BDF8"/>
                </a:solidFill>
                <a:latin typeface="JetBrains Mono"/>
                <a:cs typeface="JetBrains Mono"/>
              </a:rPr>
              <a:t>ITAI 2277 A.I. Resource Ref.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8"/>
        <p:cNvGrpSpPr/>
        <p:nvPr/>
      </p:nvGrpSpPr>
      <p:grpSpPr>
        <a:xfrm>
          <a:off x="0" y="0"/>
          <a:ext cx="0" cy="0"/>
          <a:chOff x="0" y="0"/>
          <a:chExt cx="0" cy="0"/>
        </a:xfrm>
      </p:grpSpPr>
      <p:sp>
        <p:nvSpPr>
          <p:cNvPr id="99" name="Google Shape;99;p14"/>
          <p:cNvSpPr/>
          <p:nvPr/>
        </p:nvSpPr>
        <p:spPr>
          <a:xfrm>
            <a:off x="609600" y="1768971"/>
            <a:ext cx="6052393" cy="1287660"/>
          </a:xfrm>
          <a:prstGeom prst="roundRect">
            <a:avLst>
              <a:gd name="adj" fmla="val 8876"/>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4"/>
          <p:cNvSpPr/>
          <p:nvPr/>
        </p:nvSpPr>
        <p:spPr>
          <a:xfrm>
            <a:off x="609600" y="3247132"/>
            <a:ext cx="6052393" cy="1287660"/>
          </a:xfrm>
          <a:prstGeom prst="roundRect">
            <a:avLst>
              <a:gd name="adj" fmla="val 8876"/>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1" name="Google Shape;101;p14"/>
          <p:cNvSpPr/>
          <p:nvPr/>
        </p:nvSpPr>
        <p:spPr>
          <a:xfrm>
            <a:off x="609600" y="4725292"/>
            <a:ext cx="6052393" cy="1287660"/>
          </a:xfrm>
          <a:prstGeom prst="roundRect">
            <a:avLst>
              <a:gd name="adj" fmla="val 8876"/>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p:cNvSpPr/>
          <p:nvPr/>
        </p:nvSpPr>
        <p:spPr>
          <a:xfrm>
            <a:off x="7060550" y="1952626"/>
            <a:ext cx="4539300" cy="3876600"/>
          </a:xfrm>
          <a:prstGeom prst="roundRect">
            <a:avLst>
              <a:gd name="adj" fmla="val 3181"/>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4"/>
          <p:cNvSpPr/>
          <p:nvPr/>
        </p:nvSpPr>
        <p:spPr>
          <a:xfrm>
            <a:off x="7070068" y="5391162"/>
            <a:ext cx="4520400" cy="4383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4" name="Google Shape;104;p14" descr="image.png"/>
          <p:cNvPicPr preferRelativeResize="0"/>
          <p:nvPr/>
        </p:nvPicPr>
        <p:blipFill rotWithShape="1">
          <a:blip r:embed="rId3">
            <a:alphaModFix/>
          </a:blip>
          <a:srcRect/>
          <a:stretch/>
        </p:blipFill>
        <p:spPr>
          <a:xfrm>
            <a:off x="7070068" y="1962162"/>
            <a:ext cx="4520356" cy="3429000"/>
          </a:xfrm>
          <a:prstGeom prst="rect">
            <a:avLst/>
          </a:prstGeom>
          <a:noFill/>
          <a:ln>
            <a:noFill/>
          </a:ln>
        </p:spPr>
      </p:pic>
      <p:pic>
        <p:nvPicPr>
          <p:cNvPr id="105" name="Google Shape;105;p14" descr="image.png"/>
          <p:cNvPicPr preferRelativeResize="0"/>
          <p:nvPr/>
        </p:nvPicPr>
        <p:blipFill rotWithShape="1">
          <a:blip r:embed="rId4">
            <a:alphaModFix/>
          </a:blip>
          <a:srcRect/>
          <a:stretch/>
        </p:blipFill>
        <p:spPr>
          <a:xfrm>
            <a:off x="885825" y="2040433"/>
            <a:ext cx="171450" cy="171450"/>
          </a:xfrm>
          <a:prstGeom prst="rect">
            <a:avLst/>
          </a:prstGeom>
          <a:noFill/>
          <a:ln>
            <a:noFill/>
          </a:ln>
        </p:spPr>
      </p:pic>
      <p:pic>
        <p:nvPicPr>
          <p:cNvPr id="106" name="Google Shape;106;p14" descr="image.png"/>
          <p:cNvPicPr preferRelativeResize="0"/>
          <p:nvPr/>
        </p:nvPicPr>
        <p:blipFill rotWithShape="1">
          <a:blip r:embed="rId5">
            <a:alphaModFix/>
          </a:blip>
          <a:srcRect/>
          <a:stretch/>
        </p:blipFill>
        <p:spPr>
          <a:xfrm>
            <a:off x="885825" y="3518594"/>
            <a:ext cx="171450" cy="171450"/>
          </a:xfrm>
          <a:prstGeom prst="rect">
            <a:avLst/>
          </a:prstGeom>
          <a:noFill/>
          <a:ln>
            <a:noFill/>
          </a:ln>
        </p:spPr>
      </p:pic>
      <p:pic>
        <p:nvPicPr>
          <p:cNvPr id="107" name="Google Shape;107;p14" descr="image.png"/>
          <p:cNvPicPr preferRelativeResize="0"/>
          <p:nvPr/>
        </p:nvPicPr>
        <p:blipFill rotWithShape="1">
          <a:blip r:embed="rId6">
            <a:alphaModFix/>
          </a:blip>
          <a:srcRect/>
          <a:stretch/>
        </p:blipFill>
        <p:spPr>
          <a:xfrm>
            <a:off x="885825" y="4996755"/>
            <a:ext cx="152400" cy="171450"/>
          </a:xfrm>
          <a:prstGeom prst="rect">
            <a:avLst/>
          </a:prstGeom>
          <a:noFill/>
          <a:ln>
            <a:noFill/>
          </a:ln>
        </p:spPr>
      </p:pic>
      <p:pic>
        <p:nvPicPr>
          <p:cNvPr id="108" name="Google Shape;108;p14" descr="image.png"/>
          <p:cNvPicPr preferRelativeResize="0"/>
          <p:nvPr/>
        </p:nvPicPr>
        <p:blipFill rotWithShape="1">
          <a:blip r:embed="rId7">
            <a:alphaModFix/>
          </a:blip>
          <a:srcRect/>
          <a:stretch/>
        </p:blipFill>
        <p:spPr>
          <a:xfrm>
            <a:off x="7070068" y="1962162"/>
            <a:ext cx="4520356" cy="3429000"/>
          </a:xfrm>
          <a:prstGeom prst="rect">
            <a:avLst/>
          </a:prstGeom>
          <a:noFill/>
          <a:ln>
            <a:noFill/>
          </a:ln>
        </p:spPr>
      </p:pic>
      <p:sp>
        <p:nvSpPr>
          <p:cNvPr id="109" name="Google Shape;109;p14"/>
          <p:cNvSpPr txBox="1"/>
          <p:nvPr/>
        </p:nvSpPr>
        <p:spPr>
          <a:xfrm>
            <a:off x="609600" y="457200"/>
            <a:ext cx="83055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Plus Jakarta Sans"/>
                <a:ea typeface="Plus Jakarta Sans"/>
                <a:cs typeface="Plus Jakarta Sans"/>
                <a:sym typeface="Plus Jakarta Sans"/>
              </a:rPr>
              <a:t>STRATEGIC OVERVIEW</a:t>
            </a:r>
            <a:endParaRPr/>
          </a:p>
        </p:txBody>
      </p:sp>
      <p:sp>
        <p:nvSpPr>
          <p:cNvPr id="110" name="Google Shape;110;p14"/>
          <p:cNvSpPr txBox="1"/>
          <p:nvPr/>
        </p:nvSpPr>
        <p:spPr>
          <a:xfrm>
            <a:off x="609600" y="807075"/>
            <a:ext cx="83055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Plus Jakarta Sans"/>
                <a:ea typeface="Plus Jakarta Sans"/>
                <a:cs typeface="Plus Jakarta Sans"/>
                <a:sym typeface="Plus Jakarta Sans"/>
              </a:rPr>
              <a:t>Executive Summary</a:t>
            </a:r>
            <a:endParaRPr/>
          </a:p>
        </p:txBody>
      </p:sp>
      <p:sp>
        <p:nvSpPr>
          <p:cNvPr id="111" name="Google Shape;111;p14"/>
          <p:cNvSpPr txBox="1"/>
          <p:nvPr/>
        </p:nvSpPr>
        <p:spPr>
          <a:xfrm>
            <a:off x="885825" y="2321421"/>
            <a:ext cx="5595193" cy="497085"/>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334155"/>
                </a:solidFill>
                <a:latin typeface="Plus Jakarta Sans"/>
                <a:ea typeface="Plus Jakarta Sans"/>
                <a:cs typeface="Plus Jakarta Sans"/>
                <a:sym typeface="Plus Jakarta Sans"/>
              </a:rPr>
              <a:t>Map and predict hidden non-mortgage living expenses across 279 canonical ZIP codes in Harris, Fort Bend, and Galveston counties.</a:t>
            </a:r>
            <a:endParaRPr/>
          </a:p>
        </p:txBody>
      </p:sp>
      <p:sp>
        <p:nvSpPr>
          <p:cNvPr id="112" name="Google Shape;112;p14"/>
          <p:cNvSpPr txBox="1"/>
          <p:nvPr/>
        </p:nvSpPr>
        <p:spPr>
          <a:xfrm>
            <a:off x="885825" y="3799582"/>
            <a:ext cx="5595193" cy="497085"/>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334155"/>
                </a:solidFill>
                <a:latin typeface="Plus Jakarta Sans"/>
                <a:ea typeface="Plus Jakarta Sans"/>
                <a:cs typeface="Plus Jakarta Sans"/>
                <a:sym typeface="Plus Jakarta Sans"/>
              </a:rPr>
              <a:t>Broad regional metrics fail to capture hyper-local utility rate schedules and statutory insurance zones.</a:t>
            </a:r>
            <a:endParaRPr/>
          </a:p>
        </p:txBody>
      </p:sp>
      <p:sp>
        <p:nvSpPr>
          <p:cNvPr id="113" name="Google Shape;113;p14"/>
          <p:cNvSpPr txBox="1"/>
          <p:nvPr/>
        </p:nvSpPr>
        <p:spPr>
          <a:xfrm>
            <a:off x="885825" y="5277742"/>
            <a:ext cx="5595193" cy="497085"/>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b="0" i="0" u="none" strike="noStrike" cap="none">
                <a:solidFill>
                  <a:srgbClr val="334155"/>
                </a:solidFill>
                <a:latin typeface="Plus Jakarta Sans"/>
                <a:ea typeface="Plus Jakarta Sans"/>
                <a:cs typeface="Plus Jakarta Sans"/>
                <a:sym typeface="Plus Jakarta Sans"/>
              </a:rPr>
              <a:t>A localized, data-driven engine that identifies structural cost cliffs and environmental risk exposures.</a:t>
            </a:r>
            <a:endParaRPr/>
          </a:p>
        </p:txBody>
      </p:sp>
      <p:sp>
        <p:nvSpPr>
          <p:cNvPr id="114" name="Google Shape;114;p14"/>
          <p:cNvSpPr txBox="1"/>
          <p:nvPr/>
        </p:nvSpPr>
        <p:spPr>
          <a:xfrm>
            <a:off x="1152525" y="2007096"/>
            <a:ext cx="1837729"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Core Objective</a:t>
            </a:r>
            <a:endParaRPr/>
          </a:p>
        </p:txBody>
      </p:sp>
      <p:sp>
        <p:nvSpPr>
          <p:cNvPr id="115" name="Google Shape;115;p14"/>
          <p:cNvSpPr txBox="1"/>
          <p:nvPr/>
        </p:nvSpPr>
        <p:spPr>
          <a:xfrm>
            <a:off x="1152525" y="3485257"/>
            <a:ext cx="1500187"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The Problem</a:t>
            </a:r>
            <a:endParaRPr/>
          </a:p>
        </p:txBody>
      </p:sp>
      <p:sp>
        <p:nvSpPr>
          <p:cNvPr id="116" name="Google Shape;116;p14"/>
          <p:cNvSpPr txBox="1"/>
          <p:nvPr/>
        </p:nvSpPr>
        <p:spPr>
          <a:xfrm>
            <a:off x="1133475" y="4963417"/>
            <a:ext cx="1500187"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The Solution</a:t>
            </a:r>
            <a:endParaRPr/>
          </a:p>
        </p:txBody>
      </p:sp>
      <p:sp>
        <p:nvSpPr>
          <p:cNvPr id="117" name="Google Shape;117;p14"/>
          <p:cNvSpPr txBox="1"/>
          <p:nvPr/>
        </p:nvSpPr>
        <p:spPr>
          <a:xfrm>
            <a:off x="7260568" y="5524512"/>
            <a:ext cx="27027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F8FAFC"/>
                </a:solidFill>
                <a:latin typeface="Plus Jakarta Sans"/>
                <a:ea typeface="Plus Jakarta Sans"/>
                <a:cs typeface="Plus Jakarta Sans"/>
                <a:sym typeface="Plus Jakarta Sans"/>
              </a:rPr>
              <a:t>Houston Metro GIS Spatial Domain</a:t>
            </a:r>
            <a:endParaRPr/>
          </a:p>
        </p:txBody>
      </p:sp>
      <p:sp>
        <p:nvSpPr>
          <p:cNvPr id="118" name="Google Shape;118;p14"/>
          <p:cNvSpPr txBox="1"/>
          <p:nvPr/>
        </p:nvSpPr>
        <p:spPr>
          <a:xfrm>
            <a:off x="10180725" y="5524512"/>
            <a:ext cx="15240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JetBrains Mono"/>
                <a:ea typeface="JetBrains Mono"/>
                <a:cs typeface="JetBrains Mono"/>
                <a:sym typeface="JetBrains Mono"/>
              </a:rPr>
              <a:t>279 Primary ZIPs</a:t>
            </a:r>
            <a:endParaRPr/>
          </a:p>
        </p:txBody>
      </p:sp>
      <p:sp>
        <p:nvSpPr>
          <p:cNvPr id="120" name="Google Shape;120;p14"/>
          <p:cNvSpPr txBox="1"/>
          <p:nvPr/>
        </p:nvSpPr>
        <p:spPr>
          <a:xfrm>
            <a:off x="9967315" y="345415"/>
            <a:ext cx="19374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 Brandon M </a:t>
            </a:r>
            <a:endParaRPr sz="1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p:cNvGrpSpPr/>
        <p:nvPr/>
      </p:nvGrpSpPr>
      <p:grpSpPr>
        <a:xfrm>
          <a:off x="0" y="0"/>
          <a:ext cx="0" cy="0"/>
          <a:chOff x="0" y="0"/>
          <a:chExt cx="0" cy="0"/>
        </a:xfrm>
      </p:grpSpPr>
      <p:sp>
        <p:nvSpPr>
          <p:cNvPr id="125" name="Google Shape;125;p15"/>
          <p:cNvSpPr/>
          <p:nvPr/>
        </p:nvSpPr>
        <p:spPr>
          <a:xfrm>
            <a:off x="609600" y="5697925"/>
            <a:ext cx="10972800" cy="831300"/>
          </a:xfrm>
          <a:prstGeom prst="roundRect">
            <a:avLst>
              <a:gd name="adj" fmla="val 424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6" name="Google Shape;126;p15"/>
          <p:cNvSpPr/>
          <p:nvPr/>
        </p:nvSpPr>
        <p:spPr>
          <a:xfrm>
            <a:off x="609600" y="1916400"/>
            <a:ext cx="5334000" cy="3400500"/>
          </a:xfrm>
          <a:prstGeom prst="roundRect">
            <a:avLst>
              <a:gd name="adj" fmla="val 424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7" name="Google Shape;127;p15"/>
          <p:cNvSpPr/>
          <p:nvPr/>
        </p:nvSpPr>
        <p:spPr>
          <a:xfrm>
            <a:off x="6248400" y="1916450"/>
            <a:ext cx="5334000" cy="3400500"/>
          </a:xfrm>
          <a:prstGeom prst="roundRect">
            <a:avLst>
              <a:gd name="adj" fmla="val 3921"/>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5"/>
          <p:cNvSpPr/>
          <p:nvPr/>
        </p:nvSpPr>
        <p:spPr>
          <a:xfrm>
            <a:off x="895703" y="3876659"/>
            <a:ext cx="4705200" cy="1114500"/>
          </a:xfrm>
          <a:prstGeom prst="roundRect">
            <a:avLst>
              <a:gd name="adj" fmla="val 6837"/>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9" name="Google Shape;129;p15"/>
          <p:cNvSpPr/>
          <p:nvPr/>
        </p:nvSpPr>
        <p:spPr>
          <a:xfrm>
            <a:off x="6562725" y="3850025"/>
            <a:ext cx="4705200" cy="1114500"/>
          </a:xfrm>
          <a:prstGeom prst="roundRect">
            <a:avLst>
              <a:gd name="adj" fmla="val 6837"/>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0" name="Google Shape;130;p15" descr="image.png"/>
          <p:cNvPicPr preferRelativeResize="0"/>
          <p:nvPr/>
        </p:nvPicPr>
        <p:blipFill rotWithShape="1">
          <a:blip r:embed="rId3">
            <a:alphaModFix/>
          </a:blip>
          <a:srcRect/>
          <a:stretch/>
        </p:blipFill>
        <p:spPr>
          <a:xfrm>
            <a:off x="923925" y="2402225"/>
            <a:ext cx="457200" cy="457200"/>
          </a:xfrm>
          <a:prstGeom prst="rect">
            <a:avLst/>
          </a:prstGeom>
          <a:noFill/>
          <a:ln>
            <a:noFill/>
          </a:ln>
        </p:spPr>
      </p:pic>
      <p:pic>
        <p:nvPicPr>
          <p:cNvPr id="131" name="Google Shape;131;p15" descr="image.png"/>
          <p:cNvPicPr preferRelativeResize="0"/>
          <p:nvPr/>
        </p:nvPicPr>
        <p:blipFill rotWithShape="1">
          <a:blip r:embed="rId4">
            <a:alphaModFix/>
          </a:blip>
          <a:srcRect/>
          <a:stretch/>
        </p:blipFill>
        <p:spPr>
          <a:xfrm>
            <a:off x="6562725" y="2273637"/>
            <a:ext cx="457200" cy="457200"/>
          </a:xfrm>
          <a:prstGeom prst="rect">
            <a:avLst/>
          </a:prstGeom>
          <a:noFill/>
          <a:ln>
            <a:noFill/>
          </a:ln>
        </p:spPr>
      </p:pic>
      <p:pic>
        <p:nvPicPr>
          <p:cNvPr id="132" name="Google Shape;132;p15" descr="image.png"/>
          <p:cNvPicPr preferRelativeResize="0"/>
          <p:nvPr/>
        </p:nvPicPr>
        <p:blipFill rotWithShape="1">
          <a:blip r:embed="rId5">
            <a:alphaModFix/>
          </a:blip>
          <a:srcRect/>
          <a:stretch/>
        </p:blipFill>
        <p:spPr>
          <a:xfrm>
            <a:off x="1071562" y="2526050"/>
            <a:ext cx="161925" cy="209550"/>
          </a:xfrm>
          <a:prstGeom prst="rect">
            <a:avLst/>
          </a:prstGeom>
          <a:noFill/>
          <a:ln>
            <a:noFill/>
          </a:ln>
        </p:spPr>
      </p:pic>
      <p:pic>
        <p:nvPicPr>
          <p:cNvPr id="133" name="Google Shape;133;p15" descr="image.png"/>
          <p:cNvPicPr preferRelativeResize="0"/>
          <p:nvPr/>
        </p:nvPicPr>
        <p:blipFill rotWithShape="1">
          <a:blip r:embed="rId6">
            <a:alphaModFix/>
          </a:blip>
          <a:srcRect/>
          <a:stretch/>
        </p:blipFill>
        <p:spPr>
          <a:xfrm>
            <a:off x="1085850" y="4015478"/>
            <a:ext cx="114300" cy="133350"/>
          </a:xfrm>
          <a:prstGeom prst="rect">
            <a:avLst/>
          </a:prstGeom>
          <a:noFill/>
          <a:ln>
            <a:noFill/>
          </a:ln>
        </p:spPr>
      </p:pic>
      <p:pic>
        <p:nvPicPr>
          <p:cNvPr id="134" name="Google Shape;134;p15" descr="image.png"/>
          <p:cNvPicPr preferRelativeResize="0"/>
          <p:nvPr/>
        </p:nvPicPr>
        <p:blipFill rotWithShape="1">
          <a:blip r:embed="rId6">
            <a:alphaModFix/>
          </a:blip>
          <a:srcRect/>
          <a:stretch/>
        </p:blipFill>
        <p:spPr>
          <a:xfrm>
            <a:off x="1085850" y="4310753"/>
            <a:ext cx="114300" cy="133350"/>
          </a:xfrm>
          <a:prstGeom prst="rect">
            <a:avLst/>
          </a:prstGeom>
          <a:noFill/>
          <a:ln>
            <a:noFill/>
          </a:ln>
        </p:spPr>
      </p:pic>
      <p:pic>
        <p:nvPicPr>
          <p:cNvPr id="135" name="Google Shape;135;p15" descr="image.png"/>
          <p:cNvPicPr preferRelativeResize="0"/>
          <p:nvPr/>
        </p:nvPicPr>
        <p:blipFill rotWithShape="1">
          <a:blip r:embed="rId6">
            <a:alphaModFix/>
          </a:blip>
          <a:srcRect/>
          <a:stretch/>
        </p:blipFill>
        <p:spPr>
          <a:xfrm>
            <a:off x="1099961" y="4606028"/>
            <a:ext cx="114300" cy="133350"/>
          </a:xfrm>
          <a:prstGeom prst="rect">
            <a:avLst/>
          </a:prstGeom>
          <a:noFill/>
          <a:ln>
            <a:noFill/>
          </a:ln>
        </p:spPr>
      </p:pic>
      <p:pic>
        <p:nvPicPr>
          <p:cNvPr id="136" name="Google Shape;136;p15" descr="image.png"/>
          <p:cNvPicPr preferRelativeResize="0"/>
          <p:nvPr/>
        </p:nvPicPr>
        <p:blipFill rotWithShape="1">
          <a:blip r:embed="rId7">
            <a:alphaModFix/>
          </a:blip>
          <a:srcRect/>
          <a:stretch/>
        </p:blipFill>
        <p:spPr>
          <a:xfrm>
            <a:off x="6657975" y="2397462"/>
            <a:ext cx="266700" cy="209550"/>
          </a:xfrm>
          <a:prstGeom prst="rect">
            <a:avLst/>
          </a:prstGeom>
          <a:noFill/>
          <a:ln>
            <a:noFill/>
          </a:ln>
        </p:spPr>
      </p:pic>
      <p:pic>
        <p:nvPicPr>
          <p:cNvPr id="137" name="Google Shape;137;p15" descr="image.png"/>
          <p:cNvPicPr preferRelativeResize="0"/>
          <p:nvPr/>
        </p:nvPicPr>
        <p:blipFill rotWithShape="1">
          <a:blip r:embed="rId8">
            <a:alphaModFix/>
          </a:blip>
          <a:srcRect/>
          <a:stretch/>
        </p:blipFill>
        <p:spPr>
          <a:xfrm>
            <a:off x="6724650" y="4045287"/>
            <a:ext cx="114300" cy="133350"/>
          </a:xfrm>
          <a:prstGeom prst="rect">
            <a:avLst/>
          </a:prstGeom>
          <a:noFill/>
          <a:ln>
            <a:noFill/>
          </a:ln>
        </p:spPr>
      </p:pic>
      <p:pic>
        <p:nvPicPr>
          <p:cNvPr id="138" name="Google Shape;138;p15" descr="image.png"/>
          <p:cNvPicPr preferRelativeResize="0"/>
          <p:nvPr/>
        </p:nvPicPr>
        <p:blipFill rotWithShape="1">
          <a:blip r:embed="rId8">
            <a:alphaModFix/>
          </a:blip>
          <a:srcRect/>
          <a:stretch/>
        </p:blipFill>
        <p:spPr>
          <a:xfrm>
            <a:off x="6724650" y="4340562"/>
            <a:ext cx="114300" cy="133350"/>
          </a:xfrm>
          <a:prstGeom prst="rect">
            <a:avLst/>
          </a:prstGeom>
          <a:noFill/>
          <a:ln>
            <a:noFill/>
          </a:ln>
        </p:spPr>
      </p:pic>
      <p:pic>
        <p:nvPicPr>
          <p:cNvPr id="139" name="Google Shape;139;p15" descr="image.png"/>
          <p:cNvPicPr preferRelativeResize="0"/>
          <p:nvPr/>
        </p:nvPicPr>
        <p:blipFill rotWithShape="1">
          <a:blip r:embed="rId8">
            <a:alphaModFix/>
          </a:blip>
          <a:srcRect/>
          <a:stretch/>
        </p:blipFill>
        <p:spPr>
          <a:xfrm>
            <a:off x="6724650" y="4635837"/>
            <a:ext cx="114300" cy="133350"/>
          </a:xfrm>
          <a:prstGeom prst="rect">
            <a:avLst/>
          </a:prstGeom>
          <a:noFill/>
          <a:ln>
            <a:noFill/>
          </a:ln>
        </p:spPr>
      </p:pic>
      <p:sp>
        <p:nvSpPr>
          <p:cNvPr id="140" name="Google Shape;140;p15"/>
          <p:cNvSpPr txBox="1"/>
          <p:nvPr/>
        </p:nvSpPr>
        <p:spPr>
          <a:xfrm>
            <a:off x="609600" y="4572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Plus Jakarta Sans"/>
                <a:ea typeface="Plus Jakarta Sans"/>
                <a:cs typeface="Plus Jakarta Sans"/>
                <a:sym typeface="Plus Jakarta Sans"/>
              </a:rPr>
              <a:t>SYSTEM DESIGN</a:t>
            </a:r>
            <a:endParaRPr/>
          </a:p>
        </p:txBody>
      </p:sp>
      <p:sp>
        <p:nvSpPr>
          <p:cNvPr id="141" name="Google Shape;141;p15"/>
          <p:cNvSpPr txBox="1"/>
          <p:nvPr/>
        </p:nvSpPr>
        <p:spPr>
          <a:xfrm>
            <a:off x="609600" y="1076325"/>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Plus Jakarta Sans"/>
                <a:ea typeface="Plus Jakarta Sans"/>
                <a:cs typeface="Plus Jakarta Sans"/>
                <a:sym typeface="Plus Jakarta Sans"/>
              </a:rPr>
              <a:t>The Hybrid Architecture</a:t>
            </a:r>
            <a:endParaRPr/>
          </a:p>
        </p:txBody>
      </p:sp>
      <p:sp>
        <p:nvSpPr>
          <p:cNvPr id="142" name="Google Shape;142;p15"/>
          <p:cNvSpPr txBox="1"/>
          <p:nvPr/>
        </p:nvSpPr>
        <p:spPr>
          <a:xfrm>
            <a:off x="923925" y="3035637"/>
            <a:ext cx="4800600" cy="519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Plus Jakarta Sans"/>
                <a:ea typeface="Plus Jakarta Sans"/>
                <a:cs typeface="Plus Jakarta Sans"/>
                <a:sym typeface="Plus Jakarta Sans"/>
              </a:rPr>
              <a:t>Exact programmatic calculations for published statutory fees, utility rate schedules, and USDA nutritional baselines.</a:t>
            </a:r>
            <a:endParaRPr/>
          </a:p>
        </p:txBody>
      </p:sp>
      <p:sp>
        <p:nvSpPr>
          <p:cNvPr id="143" name="Google Shape;143;p15"/>
          <p:cNvSpPr txBox="1"/>
          <p:nvPr/>
        </p:nvSpPr>
        <p:spPr>
          <a:xfrm>
            <a:off x="6562725" y="2907050"/>
            <a:ext cx="4800600" cy="831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Plus Jakarta Sans"/>
                <a:ea typeface="Plus Jakarta Sans"/>
                <a:cs typeface="Plus Jakarta Sans"/>
                <a:sym typeface="Plus Jakarta Sans"/>
              </a:rPr>
              <a:t>Multidimensional Machine Learning (K-Means) to evaluate geospatial data and identify regional cost-and-risk archetypes.</a:t>
            </a:r>
            <a:endParaRPr/>
          </a:p>
        </p:txBody>
      </p:sp>
      <p:sp>
        <p:nvSpPr>
          <p:cNvPr id="144" name="Google Shape;144;p15"/>
          <p:cNvSpPr txBox="1"/>
          <p:nvPr/>
        </p:nvSpPr>
        <p:spPr>
          <a:xfrm>
            <a:off x="1514475" y="2397462"/>
            <a:ext cx="27051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D4ED8"/>
                </a:solidFill>
                <a:latin typeface="Plus Jakarta Sans"/>
                <a:ea typeface="Plus Jakarta Sans"/>
                <a:cs typeface="Plus Jakarta Sans"/>
                <a:sym typeface="Plus Jakarta Sans"/>
              </a:rPr>
              <a:t>Pillar 1 • Programmatic</a:t>
            </a:r>
            <a:endParaRPr/>
          </a:p>
        </p:txBody>
      </p:sp>
      <p:sp>
        <p:nvSpPr>
          <p:cNvPr id="145" name="Google Shape;145;p15"/>
          <p:cNvSpPr txBox="1"/>
          <p:nvPr/>
        </p:nvSpPr>
        <p:spPr>
          <a:xfrm>
            <a:off x="7153275" y="2268875"/>
            <a:ext cx="33432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4338CA"/>
                </a:solidFill>
                <a:latin typeface="Plus Jakarta Sans"/>
                <a:ea typeface="Plus Jakarta Sans"/>
                <a:cs typeface="Plus Jakarta Sans"/>
                <a:sym typeface="Plus Jakarta Sans"/>
              </a:rPr>
              <a:t>Pillar 2 • Machine Learning</a:t>
            </a:r>
            <a:endParaRPr/>
          </a:p>
        </p:txBody>
      </p:sp>
      <p:sp>
        <p:nvSpPr>
          <p:cNvPr id="146" name="Google Shape;146;p15"/>
          <p:cNvSpPr txBox="1"/>
          <p:nvPr/>
        </p:nvSpPr>
        <p:spPr>
          <a:xfrm>
            <a:off x="1514475" y="2597487"/>
            <a:ext cx="34254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Plus Jakarta Sans"/>
                <a:ea typeface="Plus Jakarta Sans"/>
                <a:cs typeface="Plus Jakarta Sans"/>
                <a:sym typeface="Plus Jakarta Sans"/>
              </a:rPr>
              <a:t>Deterministic Cost Engine</a:t>
            </a:r>
            <a:endParaRPr/>
          </a:p>
        </p:txBody>
      </p:sp>
      <p:sp>
        <p:nvSpPr>
          <p:cNvPr id="147" name="Google Shape;147;p15"/>
          <p:cNvSpPr txBox="1"/>
          <p:nvPr/>
        </p:nvSpPr>
        <p:spPr>
          <a:xfrm>
            <a:off x="1276350" y="4024473"/>
            <a:ext cx="39648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Plus Jakarta Sans"/>
                <a:ea typeface="Plus Jakarta Sans"/>
                <a:cs typeface="Plus Jakarta Sans"/>
                <a:sym typeface="Plus Jakarta Sans"/>
              </a:rPr>
              <a:t>Statutory MUD &amp; municipal water rate cards</a:t>
            </a:r>
            <a:endParaRPr/>
          </a:p>
        </p:txBody>
      </p:sp>
      <p:sp>
        <p:nvSpPr>
          <p:cNvPr id="148" name="Google Shape;148;p15"/>
          <p:cNvSpPr txBox="1"/>
          <p:nvPr/>
        </p:nvSpPr>
        <p:spPr>
          <a:xfrm>
            <a:off x="1276350" y="4319748"/>
            <a:ext cx="35838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Plus Jakarta Sans"/>
                <a:ea typeface="Plus Jakarta Sans"/>
                <a:cs typeface="Plus Jakarta Sans"/>
                <a:sym typeface="Plus Jakarta Sans"/>
              </a:rPr>
              <a:t>Regulated TDSP electric delivery tariffs</a:t>
            </a:r>
            <a:endParaRPr/>
          </a:p>
        </p:txBody>
      </p:sp>
      <p:sp>
        <p:nvSpPr>
          <p:cNvPr id="149" name="Google Shape;149;p15"/>
          <p:cNvSpPr txBox="1"/>
          <p:nvPr/>
        </p:nvSpPr>
        <p:spPr>
          <a:xfrm>
            <a:off x="1276350" y="4615023"/>
            <a:ext cx="38934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Plus Jakarta Sans"/>
                <a:ea typeface="Plus Jakarta Sans"/>
                <a:cs typeface="Plus Jakarta Sans"/>
                <a:sym typeface="Plus Jakarta Sans"/>
              </a:rPr>
              <a:t>County-level USDA food thrift benchmarks</a:t>
            </a:r>
            <a:endParaRPr/>
          </a:p>
        </p:txBody>
      </p:sp>
      <p:sp>
        <p:nvSpPr>
          <p:cNvPr id="150" name="Google Shape;150;p15"/>
          <p:cNvSpPr txBox="1"/>
          <p:nvPr/>
        </p:nvSpPr>
        <p:spPr>
          <a:xfrm>
            <a:off x="7153275" y="2468900"/>
            <a:ext cx="42630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Plus Jakarta Sans"/>
                <a:ea typeface="Plus Jakarta Sans"/>
                <a:cs typeface="Plus Jakarta Sans"/>
                <a:sym typeface="Plus Jakarta Sans"/>
              </a:rPr>
              <a:t>Unsupervised Spatial Clustering</a:t>
            </a:r>
            <a:endParaRPr/>
          </a:p>
        </p:txBody>
      </p:sp>
      <p:sp>
        <p:nvSpPr>
          <p:cNvPr id="151" name="Google Shape;151;p15"/>
          <p:cNvSpPr txBox="1"/>
          <p:nvPr/>
        </p:nvSpPr>
        <p:spPr>
          <a:xfrm>
            <a:off x="6915150" y="4011950"/>
            <a:ext cx="3655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Plus Jakarta Sans"/>
                <a:ea typeface="Plus Jakarta Sans"/>
                <a:cs typeface="Plus Jakarta Sans"/>
                <a:sym typeface="Plus Jakarta Sans"/>
              </a:rPr>
              <a:t>Geospatial FEMA claim density matrices</a:t>
            </a:r>
            <a:endParaRPr/>
          </a:p>
        </p:txBody>
      </p:sp>
      <p:sp>
        <p:nvSpPr>
          <p:cNvPr id="152" name="Google Shape;152;p15"/>
          <p:cNvSpPr txBox="1"/>
          <p:nvPr/>
        </p:nvSpPr>
        <p:spPr>
          <a:xfrm>
            <a:off x="6915150" y="4307225"/>
            <a:ext cx="32385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Plus Jakarta Sans"/>
                <a:ea typeface="Plus Jakarta Sans"/>
                <a:cs typeface="Plus Jakarta Sans"/>
                <a:sym typeface="Plus Jakarta Sans"/>
              </a:rPr>
              <a:t>Surge flood and TWIA tier clustering</a:t>
            </a:r>
            <a:endParaRPr/>
          </a:p>
        </p:txBody>
      </p:sp>
      <p:sp>
        <p:nvSpPr>
          <p:cNvPr id="153" name="Google Shape;153;p15"/>
          <p:cNvSpPr txBox="1"/>
          <p:nvPr/>
        </p:nvSpPr>
        <p:spPr>
          <a:xfrm>
            <a:off x="6915150" y="4602500"/>
            <a:ext cx="37266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Plus Jakarta Sans"/>
                <a:ea typeface="Plus Jakarta Sans"/>
                <a:cs typeface="Plus Jakarta Sans"/>
                <a:sym typeface="Plus Jakarta Sans"/>
              </a:rPr>
              <a:t>Silhouette-optimized cluster assignment</a:t>
            </a:r>
            <a:endParaRPr/>
          </a:p>
        </p:txBody>
      </p:sp>
      <p:sp>
        <p:nvSpPr>
          <p:cNvPr id="154" name="Google Shape;154;p15"/>
          <p:cNvSpPr txBox="1"/>
          <p:nvPr/>
        </p:nvSpPr>
        <p:spPr>
          <a:xfrm>
            <a:off x="811725" y="5821750"/>
            <a:ext cx="10456200" cy="6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434343"/>
                </a:solidFill>
              </a:rPr>
              <a:t>What this means:</a:t>
            </a:r>
            <a:r>
              <a:rPr lang="en-US">
                <a:solidFill>
                  <a:srgbClr val="434343"/>
                </a:solidFill>
              </a:rPr>
              <a:t> We combined fixed statutory billing formulas with machine learning so our system can calculate exact utility rates while discovering hidden geographic risk zones.</a:t>
            </a:r>
            <a:endParaRPr sz="3500">
              <a:solidFill>
                <a:srgbClr val="434343"/>
              </a:solidFill>
              <a:latin typeface="Calibri"/>
              <a:ea typeface="Calibri"/>
              <a:cs typeface="Calibri"/>
              <a:sym typeface="Calibri"/>
            </a:endParaRPr>
          </a:p>
        </p:txBody>
      </p:sp>
      <p:sp>
        <p:nvSpPr>
          <p:cNvPr id="156" name="Google Shape;156;p15"/>
          <p:cNvSpPr txBox="1"/>
          <p:nvPr/>
        </p:nvSpPr>
        <p:spPr>
          <a:xfrm>
            <a:off x="9814915" y="345415"/>
            <a:ext cx="19374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 Brandon M </a:t>
            </a:r>
            <a:endParaRPr sz="1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60"/>
        <p:cNvGrpSpPr/>
        <p:nvPr/>
      </p:nvGrpSpPr>
      <p:grpSpPr>
        <a:xfrm>
          <a:off x="0" y="0"/>
          <a:ext cx="0" cy="0"/>
          <a:chOff x="0" y="0"/>
          <a:chExt cx="0" cy="0"/>
        </a:xfrm>
      </p:grpSpPr>
      <p:sp>
        <p:nvSpPr>
          <p:cNvPr id="161" name="Google Shape;161;p16"/>
          <p:cNvSpPr/>
          <p:nvPr/>
        </p:nvSpPr>
        <p:spPr>
          <a:xfrm>
            <a:off x="609600" y="2218875"/>
            <a:ext cx="3505200" cy="3171900"/>
          </a:xfrm>
          <a:prstGeom prst="roundRect">
            <a:avLst>
              <a:gd name="adj" fmla="val 3603"/>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2" name="Google Shape;162;p16"/>
          <p:cNvSpPr/>
          <p:nvPr/>
        </p:nvSpPr>
        <p:spPr>
          <a:xfrm>
            <a:off x="4343400" y="2218725"/>
            <a:ext cx="3505200" cy="3171900"/>
          </a:xfrm>
          <a:prstGeom prst="roundRect">
            <a:avLst>
              <a:gd name="adj" fmla="val 4301"/>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6"/>
          <p:cNvSpPr/>
          <p:nvPr/>
        </p:nvSpPr>
        <p:spPr>
          <a:xfrm>
            <a:off x="8077200" y="2218875"/>
            <a:ext cx="3505200" cy="3171900"/>
          </a:xfrm>
          <a:prstGeom prst="roundRect">
            <a:avLst>
              <a:gd name="adj" fmla="val 3603"/>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4" name="Google Shape;164;p16" descr="image.png"/>
          <p:cNvPicPr preferRelativeResize="0"/>
          <p:nvPr/>
        </p:nvPicPr>
        <p:blipFill rotWithShape="1">
          <a:blip r:embed="rId3">
            <a:alphaModFix/>
          </a:blip>
          <a:srcRect/>
          <a:stretch/>
        </p:blipFill>
        <p:spPr>
          <a:xfrm>
            <a:off x="885825" y="2533200"/>
            <a:ext cx="419100" cy="419100"/>
          </a:xfrm>
          <a:prstGeom prst="rect">
            <a:avLst/>
          </a:prstGeom>
          <a:noFill/>
          <a:ln>
            <a:noFill/>
          </a:ln>
        </p:spPr>
      </p:pic>
      <p:pic>
        <p:nvPicPr>
          <p:cNvPr id="165" name="Google Shape;165;p16" descr="image.png"/>
          <p:cNvPicPr preferRelativeResize="0"/>
          <p:nvPr/>
        </p:nvPicPr>
        <p:blipFill rotWithShape="1">
          <a:blip r:embed="rId4">
            <a:alphaModFix/>
          </a:blip>
          <a:srcRect/>
          <a:stretch/>
        </p:blipFill>
        <p:spPr>
          <a:xfrm>
            <a:off x="4619625" y="2533200"/>
            <a:ext cx="419100" cy="419100"/>
          </a:xfrm>
          <a:prstGeom prst="rect">
            <a:avLst/>
          </a:prstGeom>
          <a:noFill/>
          <a:ln>
            <a:noFill/>
          </a:ln>
        </p:spPr>
      </p:pic>
      <p:pic>
        <p:nvPicPr>
          <p:cNvPr id="166" name="Google Shape;166;p16" descr="image.png"/>
          <p:cNvPicPr preferRelativeResize="0"/>
          <p:nvPr/>
        </p:nvPicPr>
        <p:blipFill rotWithShape="1">
          <a:blip r:embed="rId5">
            <a:alphaModFix/>
          </a:blip>
          <a:srcRect/>
          <a:stretch/>
        </p:blipFill>
        <p:spPr>
          <a:xfrm>
            <a:off x="8353425" y="2533200"/>
            <a:ext cx="419100" cy="419100"/>
          </a:xfrm>
          <a:prstGeom prst="rect">
            <a:avLst/>
          </a:prstGeom>
          <a:noFill/>
          <a:ln>
            <a:noFill/>
          </a:ln>
        </p:spPr>
      </p:pic>
      <p:pic>
        <p:nvPicPr>
          <p:cNvPr id="167" name="Google Shape;167;p16" descr="image.png"/>
          <p:cNvPicPr preferRelativeResize="0"/>
          <p:nvPr/>
        </p:nvPicPr>
        <p:blipFill rotWithShape="1">
          <a:blip r:embed="rId6">
            <a:alphaModFix/>
          </a:blip>
          <a:srcRect/>
          <a:stretch/>
        </p:blipFill>
        <p:spPr>
          <a:xfrm>
            <a:off x="1009650" y="2647500"/>
            <a:ext cx="171450" cy="190500"/>
          </a:xfrm>
          <a:prstGeom prst="rect">
            <a:avLst/>
          </a:prstGeom>
          <a:noFill/>
          <a:ln>
            <a:noFill/>
          </a:ln>
        </p:spPr>
      </p:pic>
      <p:pic>
        <p:nvPicPr>
          <p:cNvPr id="168" name="Google Shape;168;p16" descr="image.png"/>
          <p:cNvPicPr preferRelativeResize="0"/>
          <p:nvPr/>
        </p:nvPicPr>
        <p:blipFill rotWithShape="1">
          <a:blip r:embed="rId7">
            <a:alphaModFix/>
          </a:blip>
          <a:srcRect/>
          <a:stretch/>
        </p:blipFill>
        <p:spPr>
          <a:xfrm>
            <a:off x="4710125" y="2647500"/>
            <a:ext cx="238125" cy="190500"/>
          </a:xfrm>
          <a:prstGeom prst="rect">
            <a:avLst/>
          </a:prstGeom>
          <a:noFill/>
          <a:ln>
            <a:noFill/>
          </a:ln>
        </p:spPr>
      </p:pic>
      <p:pic>
        <p:nvPicPr>
          <p:cNvPr id="169" name="Google Shape;169;p16" descr="image.png"/>
          <p:cNvPicPr preferRelativeResize="0"/>
          <p:nvPr/>
        </p:nvPicPr>
        <p:blipFill rotWithShape="1">
          <a:blip r:embed="rId8">
            <a:alphaModFix/>
          </a:blip>
          <a:srcRect/>
          <a:stretch/>
        </p:blipFill>
        <p:spPr>
          <a:xfrm>
            <a:off x="8443912" y="2647500"/>
            <a:ext cx="238125" cy="190500"/>
          </a:xfrm>
          <a:prstGeom prst="rect">
            <a:avLst/>
          </a:prstGeom>
          <a:noFill/>
          <a:ln>
            <a:noFill/>
          </a:ln>
        </p:spPr>
      </p:pic>
      <p:sp>
        <p:nvSpPr>
          <p:cNvPr id="170" name="Google Shape;170;p16"/>
          <p:cNvSpPr txBox="1"/>
          <p:nvPr/>
        </p:nvSpPr>
        <p:spPr>
          <a:xfrm>
            <a:off x="609600" y="457200"/>
            <a:ext cx="11582400" cy="17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Plus Jakarta Sans"/>
                <a:ea typeface="Plus Jakarta Sans"/>
                <a:cs typeface="Plus Jakarta Sans"/>
                <a:sym typeface="Plus Jakarta Sans"/>
              </a:rPr>
              <a:t>PIPELINE FOUNDATION</a:t>
            </a:r>
            <a:endParaRPr/>
          </a:p>
        </p:txBody>
      </p:sp>
      <p:sp>
        <p:nvSpPr>
          <p:cNvPr id="171" name="Google Shape;171;p16"/>
          <p:cNvSpPr txBox="1"/>
          <p:nvPr/>
        </p:nvSpPr>
        <p:spPr>
          <a:xfrm>
            <a:off x="609600" y="1017525"/>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Plus Jakarta Sans"/>
                <a:ea typeface="Plus Jakarta Sans"/>
                <a:cs typeface="Plus Jakarta Sans"/>
                <a:sym typeface="Plus Jakarta Sans"/>
              </a:rPr>
              <a:t>Week 4: Multi-Domain Acquisition &amp; Governance</a:t>
            </a:r>
            <a:endParaRPr/>
          </a:p>
        </p:txBody>
      </p:sp>
      <p:sp>
        <p:nvSpPr>
          <p:cNvPr id="172" name="Google Shape;172;p16"/>
          <p:cNvSpPr txBox="1"/>
          <p:nvPr/>
        </p:nvSpPr>
        <p:spPr>
          <a:xfrm>
            <a:off x="885825" y="3085650"/>
            <a:ext cx="38754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Plus Jakarta Sans"/>
                <a:ea typeface="Plus Jakarta Sans"/>
                <a:cs typeface="Plus Jakarta Sans"/>
                <a:sym typeface="Plus Jakarta Sans"/>
              </a:rPr>
              <a:t>Data Integration</a:t>
            </a:r>
            <a:endParaRPr/>
          </a:p>
        </p:txBody>
      </p:sp>
      <p:sp>
        <p:nvSpPr>
          <p:cNvPr id="173" name="Google Shape;173;p16"/>
          <p:cNvSpPr txBox="1"/>
          <p:nvPr/>
        </p:nvSpPr>
        <p:spPr>
          <a:xfrm>
            <a:off x="885825" y="3513923"/>
            <a:ext cx="3048000" cy="1558119"/>
          </a:xfrm>
          <a:prstGeom prst="rect">
            <a:avLst/>
          </a:prstGeom>
          <a:noFill/>
          <a:ln>
            <a:noFill/>
          </a:ln>
        </p:spPr>
        <p:txBody>
          <a:bodyPr spcFirstLastPara="1" wrap="square" lIns="0" tIns="0" rIns="0" bIns="0" anchor="t" anchorCtr="0">
            <a:spAutoFit/>
          </a:bodyPr>
          <a:lstStyle/>
          <a:p>
            <a:pPr>
              <a:lnSpc>
                <a:spcPct val="150000"/>
              </a:lnSpc>
            </a:pPr>
            <a:r>
              <a:rPr lang="en-US" sz="1350" b="0" i="0" u="none" strike="noStrike" cap="none" dirty="0">
                <a:solidFill>
                  <a:srgbClr val="334155"/>
                </a:solidFill>
                <a:latin typeface="Plus Jakarta Sans"/>
                <a:ea typeface="Plus Jakarta Sans"/>
                <a:cs typeface="Plus Jakarta Sans"/>
                <a:sym typeface="Plus Jakarta Sans"/>
              </a:rPr>
              <a:t>Acquired 9 distinct datasets </a:t>
            </a:r>
            <a:r>
              <a:rPr lang="en-US" sz="1350" dirty="0">
                <a:solidFill>
                  <a:srgbClr val="334155"/>
                </a:solidFill>
                <a:latin typeface="Plus Jakarta Sans"/>
                <a:ea typeface="Plus Jakarta Sans"/>
                <a:cs typeface="Plus Jakarta Sans"/>
                <a:sym typeface="Plus Jakarta Sans"/>
              </a:rPr>
              <a:t>spanning USPS </a:t>
            </a:r>
            <a:r>
              <a:rPr lang="en-US" sz="1350" b="0" i="0" u="none" strike="noStrike" cap="none" dirty="0">
                <a:solidFill>
                  <a:srgbClr val="334155"/>
                </a:solidFill>
                <a:latin typeface="Plus Jakarta Sans"/>
                <a:ea typeface="Plus Jakarta Sans"/>
                <a:cs typeface="Plus Jakarta Sans"/>
                <a:sym typeface="Plus Jakarta Sans"/>
              </a:rPr>
              <a:t>crosswalks, FEMA NFIP claims,</a:t>
            </a:r>
            <a:r>
              <a:rPr lang="en-US" sz="1350" dirty="0">
                <a:solidFill>
                  <a:srgbClr val="334155"/>
                </a:solidFill>
                <a:latin typeface="Plus Jakarta Sans"/>
                <a:ea typeface="Plus Jakarta Sans"/>
                <a:cs typeface="Plus Jakarta Sans"/>
                <a:sym typeface="Plus Jakarta Sans"/>
              </a:rPr>
              <a:t> </a:t>
            </a:r>
            <a:r>
              <a:rPr lang="en-US" sz="1350" b="0" i="0" u="none" strike="noStrike" cap="none" dirty="0">
                <a:solidFill>
                  <a:srgbClr val="334155"/>
                </a:solidFill>
                <a:latin typeface="Plus Jakarta Sans"/>
                <a:ea typeface="Plus Jakarta Sans"/>
                <a:cs typeface="Plus Jakarta Sans"/>
                <a:sym typeface="Plus Jakarta Sans"/>
              </a:rPr>
              <a:t> FEMA GIS hazards, </a:t>
            </a:r>
            <a:r>
              <a:rPr lang="en-US" sz="1350" dirty="0">
                <a:solidFill>
                  <a:srgbClr val="334155"/>
                </a:solidFill>
                <a:latin typeface="Plus Jakarta Sans"/>
                <a:ea typeface="Plus Jakarta Sans"/>
                <a:cs typeface="Plus Jakarta Sans"/>
                <a:sym typeface="Plus Jakarta Sans"/>
              </a:rPr>
              <a:t>CenterPoint/ TNMP</a:t>
            </a:r>
            <a:r>
              <a:rPr lang="en-US" sz="1350" b="0" i="0" u="none" strike="noStrike" cap="none" dirty="0">
                <a:solidFill>
                  <a:srgbClr val="334155"/>
                </a:solidFill>
                <a:latin typeface="Plus Jakarta Sans"/>
                <a:ea typeface="Plus Jakarta Sans"/>
                <a:cs typeface="Plus Jakarta Sans"/>
                <a:sym typeface="Plus Jakarta Sans"/>
              </a:rPr>
              <a:t> utility tariffs, and USDA/BLS indices.</a:t>
            </a:r>
            <a:endParaRPr lang="en-US" dirty="0"/>
          </a:p>
        </p:txBody>
      </p:sp>
      <p:sp>
        <p:nvSpPr>
          <p:cNvPr id="175" name="Google Shape;175;p16"/>
          <p:cNvSpPr txBox="1"/>
          <p:nvPr/>
        </p:nvSpPr>
        <p:spPr>
          <a:xfrm>
            <a:off x="4619625" y="3085650"/>
            <a:ext cx="38754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Plus Jakarta Sans"/>
                <a:ea typeface="Plus Jakarta Sans"/>
                <a:cs typeface="Plus Jakarta Sans"/>
                <a:sym typeface="Plus Jakarta Sans"/>
              </a:rPr>
              <a:t>Privacy Protection</a:t>
            </a:r>
            <a:endParaRPr/>
          </a:p>
        </p:txBody>
      </p:sp>
      <p:sp>
        <p:nvSpPr>
          <p:cNvPr id="176" name="Google Shape;176;p16"/>
          <p:cNvSpPr txBox="1"/>
          <p:nvPr/>
        </p:nvSpPr>
        <p:spPr>
          <a:xfrm>
            <a:off x="4572000" y="3485700"/>
            <a:ext cx="3048000" cy="831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Plus Jakarta Sans"/>
                <a:ea typeface="Plus Jakarta Sans"/>
                <a:cs typeface="Plus Jakarta Sans"/>
                <a:sym typeface="Plus Jakarta Sans"/>
              </a:rPr>
              <a:t>Strictly anonymized PII from FEMA claims to protect individual policyholders.</a:t>
            </a:r>
            <a:endParaRPr/>
          </a:p>
        </p:txBody>
      </p:sp>
      <p:sp>
        <p:nvSpPr>
          <p:cNvPr id="177" name="Google Shape;177;p16"/>
          <p:cNvSpPr txBox="1"/>
          <p:nvPr/>
        </p:nvSpPr>
        <p:spPr>
          <a:xfrm>
            <a:off x="4555338" y="5067485"/>
            <a:ext cx="36909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6A34A"/>
                </a:solidFill>
                <a:latin typeface="JetBrains Mono"/>
                <a:ea typeface="JetBrains Mono"/>
                <a:cs typeface="JetBrains Mono"/>
                <a:sym typeface="JetBrains Mono"/>
              </a:rPr>
              <a:t>PII Masked at Ingestion</a:t>
            </a:r>
            <a:endParaRPr/>
          </a:p>
        </p:txBody>
      </p:sp>
      <p:sp>
        <p:nvSpPr>
          <p:cNvPr id="178" name="Google Shape;178;p16"/>
          <p:cNvSpPr txBox="1"/>
          <p:nvPr/>
        </p:nvSpPr>
        <p:spPr>
          <a:xfrm>
            <a:off x="8353425" y="3085650"/>
            <a:ext cx="38385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Plus Jakarta Sans"/>
                <a:ea typeface="Plus Jakarta Sans"/>
                <a:cs typeface="Plus Jakarta Sans"/>
                <a:sym typeface="Plus Jakarta Sans"/>
              </a:rPr>
              <a:t>Fair Housing Compliance</a:t>
            </a:r>
            <a:endParaRPr/>
          </a:p>
        </p:txBody>
      </p:sp>
      <p:sp>
        <p:nvSpPr>
          <p:cNvPr id="179" name="Google Shape;179;p16"/>
          <p:cNvSpPr txBox="1"/>
          <p:nvPr/>
        </p:nvSpPr>
        <p:spPr>
          <a:xfrm>
            <a:off x="8353425" y="3485700"/>
            <a:ext cx="3048000" cy="1143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Plus Jakarta Sans"/>
                <a:ea typeface="Plus Jakarta Sans"/>
                <a:cs typeface="Plus Jakarta Sans"/>
                <a:sym typeface="Plus Jakarta Sans"/>
              </a:rPr>
              <a:t>Adhered to NIST AI RMF 1.0; explicitly omitted demographic, racial, and income features to prevent digital redlining and algorithmic bias.</a:t>
            </a:r>
            <a:endParaRPr/>
          </a:p>
        </p:txBody>
      </p:sp>
      <p:sp>
        <p:nvSpPr>
          <p:cNvPr id="180" name="Google Shape;180;p16"/>
          <p:cNvSpPr txBox="1"/>
          <p:nvPr/>
        </p:nvSpPr>
        <p:spPr>
          <a:xfrm>
            <a:off x="8353425" y="5067485"/>
            <a:ext cx="36909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DC2626"/>
                </a:solidFill>
                <a:latin typeface="JetBrains Mono"/>
                <a:ea typeface="JetBrains Mono"/>
                <a:cs typeface="JetBrains Mono"/>
                <a:sym typeface="JetBrains Mono"/>
              </a:rPr>
              <a:t>NIST AI RMF 1.0 Aligned</a:t>
            </a:r>
            <a:endParaRPr/>
          </a:p>
        </p:txBody>
      </p:sp>
      <p:sp>
        <p:nvSpPr>
          <p:cNvPr id="181" name="Google Shape;181;p16"/>
          <p:cNvSpPr/>
          <p:nvPr/>
        </p:nvSpPr>
        <p:spPr>
          <a:xfrm>
            <a:off x="609600" y="5697925"/>
            <a:ext cx="10972800" cy="831300"/>
          </a:xfrm>
          <a:prstGeom prst="roundRect">
            <a:avLst>
              <a:gd name="adj" fmla="val 4242"/>
            </a:avLst>
          </a:prstGeom>
          <a:solidFill>
            <a:schemeClr val="lt1"/>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6"/>
          <p:cNvSpPr txBox="1"/>
          <p:nvPr/>
        </p:nvSpPr>
        <p:spPr>
          <a:xfrm>
            <a:off x="862525" y="5821750"/>
            <a:ext cx="10547640" cy="70012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434343"/>
                </a:solidFill>
              </a:rPr>
              <a:t>What this means:</a:t>
            </a:r>
            <a:r>
              <a:rPr lang="en-US">
                <a:solidFill>
                  <a:srgbClr val="434343"/>
                </a:solidFill>
              </a:rPr>
              <a:t> We pulled data from 9 official state and federal sources while deliberately excluding race, income, and personal data to ensure compliance and avoid algorithmic bias.</a:t>
            </a:r>
            <a:endParaRPr sz="3500">
              <a:solidFill>
                <a:srgbClr val="434343"/>
              </a:solidFill>
              <a:latin typeface="Calibri"/>
              <a:ea typeface="Calibri"/>
              <a:cs typeface="Calibri"/>
              <a:sym typeface="Calibri"/>
            </a:endParaRPr>
          </a:p>
        </p:txBody>
      </p:sp>
      <p:sp>
        <p:nvSpPr>
          <p:cNvPr id="3" name="Google Shape;156;p15">
            <a:extLst>
              <a:ext uri="{FF2B5EF4-FFF2-40B4-BE49-F238E27FC236}">
                <a16:creationId xmlns:a16="http://schemas.microsoft.com/office/drawing/2014/main" id="{69A9D227-1F26-E04C-B09E-25D88E8B85F8}"/>
              </a:ext>
            </a:extLst>
          </p:cNvPr>
          <p:cNvSpPr txBox="1"/>
          <p:nvPr/>
        </p:nvSpPr>
        <p:spPr>
          <a:xfrm>
            <a:off x="9814915" y="345415"/>
            <a:ext cx="19374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 Brandon M </a:t>
            </a:r>
            <a:endParaRPr sz="1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8"/>
        <p:cNvGrpSpPr/>
        <p:nvPr/>
      </p:nvGrpSpPr>
      <p:grpSpPr>
        <a:xfrm>
          <a:off x="0" y="0"/>
          <a:ext cx="0" cy="0"/>
          <a:chOff x="0" y="0"/>
          <a:chExt cx="0" cy="0"/>
        </a:xfrm>
      </p:grpSpPr>
      <p:sp>
        <p:nvSpPr>
          <p:cNvPr id="189" name="Google Shape;189;p17"/>
          <p:cNvSpPr/>
          <p:nvPr/>
        </p:nvSpPr>
        <p:spPr>
          <a:xfrm>
            <a:off x="609600" y="1694700"/>
            <a:ext cx="10972800" cy="1129800"/>
          </a:xfrm>
          <a:prstGeom prst="roundRect">
            <a:avLst>
              <a:gd name="adj" fmla="val 769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7"/>
          <p:cNvSpPr/>
          <p:nvPr/>
        </p:nvSpPr>
        <p:spPr>
          <a:xfrm>
            <a:off x="609600" y="3004313"/>
            <a:ext cx="10972800" cy="1057200"/>
          </a:xfrm>
          <a:prstGeom prst="roundRect">
            <a:avLst>
              <a:gd name="adj" fmla="val 9009"/>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7"/>
          <p:cNvSpPr/>
          <p:nvPr/>
        </p:nvSpPr>
        <p:spPr>
          <a:xfrm>
            <a:off x="609600" y="4241350"/>
            <a:ext cx="10972800" cy="1057200"/>
          </a:xfrm>
          <a:prstGeom prst="roundRect">
            <a:avLst>
              <a:gd name="adj" fmla="val 769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17"/>
          <p:cNvSpPr/>
          <p:nvPr/>
        </p:nvSpPr>
        <p:spPr>
          <a:xfrm>
            <a:off x="5437137" y="1839375"/>
            <a:ext cx="5907000" cy="838200"/>
          </a:xfrm>
          <a:prstGeom prst="roundRect">
            <a:avLst>
              <a:gd name="adj" fmla="val 909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17"/>
          <p:cNvSpPr/>
          <p:nvPr/>
        </p:nvSpPr>
        <p:spPr>
          <a:xfrm>
            <a:off x="5437137" y="3213863"/>
            <a:ext cx="5907000" cy="638100"/>
          </a:xfrm>
          <a:prstGeom prst="roundRect">
            <a:avLst>
              <a:gd name="adj" fmla="val 1194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17"/>
          <p:cNvSpPr/>
          <p:nvPr/>
        </p:nvSpPr>
        <p:spPr>
          <a:xfrm>
            <a:off x="5437137" y="4368850"/>
            <a:ext cx="5907000" cy="838200"/>
          </a:xfrm>
          <a:prstGeom prst="roundRect">
            <a:avLst>
              <a:gd name="adj" fmla="val 909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5" name="Google Shape;195;p17" descr="image.png"/>
          <p:cNvPicPr preferRelativeResize="0"/>
          <p:nvPr/>
        </p:nvPicPr>
        <p:blipFill rotWithShape="1">
          <a:blip r:embed="rId3">
            <a:alphaModFix/>
          </a:blip>
          <a:srcRect/>
          <a:stretch/>
        </p:blipFill>
        <p:spPr>
          <a:xfrm>
            <a:off x="5037087" y="2163225"/>
            <a:ext cx="171450" cy="190500"/>
          </a:xfrm>
          <a:prstGeom prst="rect">
            <a:avLst/>
          </a:prstGeom>
          <a:noFill/>
          <a:ln>
            <a:noFill/>
          </a:ln>
        </p:spPr>
      </p:pic>
      <p:pic>
        <p:nvPicPr>
          <p:cNvPr id="196" name="Google Shape;196;p17" descr="image.png"/>
          <p:cNvPicPr preferRelativeResize="0"/>
          <p:nvPr/>
        </p:nvPicPr>
        <p:blipFill rotWithShape="1">
          <a:blip r:embed="rId4">
            <a:alphaModFix/>
          </a:blip>
          <a:srcRect/>
          <a:stretch/>
        </p:blipFill>
        <p:spPr>
          <a:xfrm>
            <a:off x="5037087" y="3437700"/>
            <a:ext cx="171450" cy="190500"/>
          </a:xfrm>
          <a:prstGeom prst="rect">
            <a:avLst/>
          </a:prstGeom>
          <a:noFill/>
          <a:ln>
            <a:noFill/>
          </a:ln>
        </p:spPr>
      </p:pic>
      <p:pic>
        <p:nvPicPr>
          <p:cNvPr id="197" name="Google Shape;197;p17" descr="image.png"/>
          <p:cNvPicPr preferRelativeResize="0"/>
          <p:nvPr/>
        </p:nvPicPr>
        <p:blipFill rotWithShape="1">
          <a:blip r:embed="rId3">
            <a:alphaModFix/>
          </a:blip>
          <a:srcRect/>
          <a:stretch/>
        </p:blipFill>
        <p:spPr>
          <a:xfrm>
            <a:off x="5037087" y="4692700"/>
            <a:ext cx="171450" cy="190500"/>
          </a:xfrm>
          <a:prstGeom prst="rect">
            <a:avLst/>
          </a:prstGeom>
          <a:noFill/>
          <a:ln>
            <a:noFill/>
          </a:ln>
        </p:spPr>
      </p:pic>
      <p:pic>
        <p:nvPicPr>
          <p:cNvPr id="198" name="Google Shape;198;p17" descr="image.png"/>
          <p:cNvPicPr preferRelativeResize="0"/>
          <p:nvPr/>
        </p:nvPicPr>
        <p:blipFill rotWithShape="1">
          <a:blip r:embed="rId5">
            <a:alphaModFix/>
          </a:blip>
          <a:srcRect/>
          <a:stretch/>
        </p:blipFill>
        <p:spPr>
          <a:xfrm>
            <a:off x="847725" y="1967962"/>
            <a:ext cx="142875" cy="142875"/>
          </a:xfrm>
          <a:prstGeom prst="rect">
            <a:avLst/>
          </a:prstGeom>
          <a:noFill/>
          <a:ln>
            <a:noFill/>
          </a:ln>
        </p:spPr>
      </p:pic>
      <p:pic>
        <p:nvPicPr>
          <p:cNvPr id="199" name="Google Shape;199;p17" descr="image.png"/>
          <p:cNvPicPr preferRelativeResize="0"/>
          <p:nvPr/>
        </p:nvPicPr>
        <p:blipFill rotWithShape="1">
          <a:blip r:embed="rId6">
            <a:alphaModFix/>
          </a:blip>
          <a:srcRect/>
          <a:stretch/>
        </p:blipFill>
        <p:spPr>
          <a:xfrm>
            <a:off x="847725" y="3242438"/>
            <a:ext cx="142875" cy="142875"/>
          </a:xfrm>
          <a:prstGeom prst="rect">
            <a:avLst/>
          </a:prstGeom>
          <a:noFill/>
          <a:ln>
            <a:noFill/>
          </a:ln>
        </p:spPr>
      </p:pic>
      <p:pic>
        <p:nvPicPr>
          <p:cNvPr id="200" name="Google Shape;200;p17" descr="image.png"/>
          <p:cNvPicPr preferRelativeResize="0"/>
          <p:nvPr/>
        </p:nvPicPr>
        <p:blipFill rotWithShape="1">
          <a:blip r:embed="rId6">
            <a:alphaModFix/>
          </a:blip>
          <a:srcRect/>
          <a:stretch/>
        </p:blipFill>
        <p:spPr>
          <a:xfrm>
            <a:off x="847725" y="4597450"/>
            <a:ext cx="142875" cy="142875"/>
          </a:xfrm>
          <a:prstGeom prst="rect">
            <a:avLst/>
          </a:prstGeom>
          <a:noFill/>
          <a:ln>
            <a:noFill/>
          </a:ln>
        </p:spPr>
      </p:pic>
      <p:sp>
        <p:nvSpPr>
          <p:cNvPr id="201" name="Google Shape;201;p17"/>
          <p:cNvSpPr txBox="1"/>
          <p:nvPr/>
        </p:nvSpPr>
        <p:spPr>
          <a:xfrm>
            <a:off x="609600" y="4572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Plus Jakarta Sans"/>
                <a:ea typeface="Plus Jakarta Sans"/>
                <a:cs typeface="Plus Jakarta Sans"/>
                <a:sym typeface="Plus Jakarta Sans"/>
              </a:rPr>
              <a:t>PIPELINE RESILIENCE</a:t>
            </a:r>
            <a:endParaRPr/>
          </a:p>
        </p:txBody>
      </p:sp>
      <p:sp>
        <p:nvSpPr>
          <p:cNvPr id="202" name="Google Shape;202;p17"/>
          <p:cNvSpPr txBox="1"/>
          <p:nvPr/>
        </p:nvSpPr>
        <p:spPr>
          <a:xfrm>
            <a:off x="609600" y="800250"/>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Plus Jakarta Sans"/>
                <a:ea typeface="Plus Jakarta Sans"/>
                <a:cs typeface="Plus Jakarta Sans"/>
                <a:sym typeface="Plus Jakarta Sans"/>
              </a:rPr>
              <a:t>Week 4: Technical Troubleshooting</a:t>
            </a:r>
            <a:endParaRPr/>
          </a:p>
        </p:txBody>
      </p:sp>
      <p:sp>
        <p:nvSpPr>
          <p:cNvPr id="203" name="Google Shape;203;p17"/>
          <p:cNvSpPr txBox="1"/>
          <p:nvPr/>
        </p:nvSpPr>
        <p:spPr>
          <a:xfrm>
            <a:off x="847725" y="2187037"/>
            <a:ext cx="40560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64748B"/>
                </a:solidFill>
                <a:latin typeface="Plus Jakarta Sans"/>
                <a:ea typeface="Plus Jakarta Sans"/>
                <a:cs typeface="Plus Jakarta Sans"/>
                <a:sym typeface="Plus Jakarta Sans"/>
              </a:rPr>
              <a:t>The 1.07 GB Texas NFIP dataset exhausted system RAM.</a:t>
            </a:r>
            <a:endParaRPr/>
          </a:p>
        </p:txBody>
      </p:sp>
      <p:sp>
        <p:nvSpPr>
          <p:cNvPr id="204" name="Google Shape;204;p17"/>
          <p:cNvSpPr txBox="1"/>
          <p:nvPr/>
        </p:nvSpPr>
        <p:spPr>
          <a:xfrm>
            <a:off x="5618112" y="1963200"/>
            <a:ext cx="65739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6A34A"/>
                </a:solidFill>
                <a:latin typeface="Plus Jakarta Sans"/>
                <a:ea typeface="Plus Jakarta Sans"/>
                <a:cs typeface="Plus Jakarta Sans"/>
                <a:sym typeface="Plus Jakarta Sans"/>
              </a:rPr>
              <a:t>ENGINEERED SOLUTION</a:t>
            </a:r>
            <a:endParaRPr/>
          </a:p>
        </p:txBody>
      </p:sp>
      <p:sp>
        <p:nvSpPr>
          <p:cNvPr id="205" name="Google Shape;205;p17"/>
          <p:cNvSpPr txBox="1"/>
          <p:nvPr/>
        </p:nvSpPr>
        <p:spPr>
          <a:xfrm>
            <a:off x="5618112" y="2153700"/>
            <a:ext cx="56403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Plus Jakarta Sans"/>
                <a:ea typeface="Plus Jakarta Sans"/>
                <a:cs typeface="Plus Jakarta Sans"/>
                <a:sym typeface="Plus Jakarta Sans"/>
              </a:rPr>
              <a:t>Implemented chunked iterative parsing (chunksize=100000) and immediate row-level filtering to reduce memory overhead to ~15 KB.</a:t>
            </a:r>
            <a:endParaRPr/>
          </a:p>
        </p:txBody>
      </p:sp>
      <p:sp>
        <p:nvSpPr>
          <p:cNvPr id="206" name="Google Shape;206;p17"/>
          <p:cNvSpPr txBox="1"/>
          <p:nvPr/>
        </p:nvSpPr>
        <p:spPr>
          <a:xfrm>
            <a:off x="847725" y="3461513"/>
            <a:ext cx="40560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64748B"/>
                </a:solidFill>
                <a:latin typeface="Plus Jakarta Sans"/>
                <a:ea typeface="Plus Jakarta Sans"/>
                <a:cs typeface="Plus Jakarta Sans"/>
                <a:sym typeface="Plus Jakarta Sans"/>
              </a:rPr>
              <a:t>FEMA archives contained GeoTIFF rasters rather than vector shapefiles.</a:t>
            </a:r>
            <a:endParaRPr/>
          </a:p>
        </p:txBody>
      </p:sp>
      <p:sp>
        <p:nvSpPr>
          <p:cNvPr id="207" name="Google Shape;207;p17"/>
          <p:cNvSpPr txBox="1"/>
          <p:nvPr/>
        </p:nvSpPr>
        <p:spPr>
          <a:xfrm>
            <a:off x="5618112" y="3337688"/>
            <a:ext cx="65739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6A34A"/>
                </a:solidFill>
                <a:latin typeface="Plus Jakarta Sans"/>
                <a:ea typeface="Plus Jakarta Sans"/>
                <a:cs typeface="Plus Jakarta Sans"/>
                <a:sym typeface="Plus Jakarta Sans"/>
              </a:rPr>
              <a:t>ENGINEERED SOLUTION</a:t>
            </a:r>
            <a:endParaRPr/>
          </a:p>
        </p:txBody>
      </p:sp>
      <p:sp>
        <p:nvSpPr>
          <p:cNvPr id="208" name="Google Shape;208;p17"/>
          <p:cNvSpPr txBox="1"/>
          <p:nvPr/>
        </p:nvSpPr>
        <p:spPr>
          <a:xfrm>
            <a:off x="5618112" y="3528188"/>
            <a:ext cx="65739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Plus Jakarta Sans"/>
                <a:ea typeface="Plus Jakarta Sans"/>
                <a:cs typeface="Plus Jakarta Sans"/>
                <a:sym typeface="Plus Jakarta Sans"/>
              </a:rPr>
              <a:t>Developed a spatial fallback module using historical claim density.</a:t>
            </a:r>
            <a:endParaRPr/>
          </a:p>
        </p:txBody>
      </p:sp>
      <p:sp>
        <p:nvSpPr>
          <p:cNvPr id="209" name="Google Shape;209;p17"/>
          <p:cNvSpPr txBox="1"/>
          <p:nvPr/>
        </p:nvSpPr>
        <p:spPr>
          <a:xfrm>
            <a:off x="847725" y="4816525"/>
            <a:ext cx="49509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64748B"/>
                </a:solidFill>
                <a:latin typeface="Plus Jakarta Sans"/>
                <a:ea typeface="Plus Jakarta Sans"/>
                <a:cs typeface="Plus Jakarta Sans"/>
                <a:sym typeface="Plus Jakarta Sans"/>
              </a:rPr>
              <a:t>MUD boundaries lacked USPS ZIP codes.</a:t>
            </a:r>
            <a:endParaRPr/>
          </a:p>
        </p:txBody>
      </p:sp>
      <p:sp>
        <p:nvSpPr>
          <p:cNvPr id="210" name="Google Shape;210;p17"/>
          <p:cNvSpPr txBox="1"/>
          <p:nvPr/>
        </p:nvSpPr>
        <p:spPr>
          <a:xfrm>
            <a:off x="5618112" y="4492675"/>
            <a:ext cx="65739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6A34A"/>
                </a:solidFill>
                <a:latin typeface="Plus Jakarta Sans"/>
                <a:ea typeface="Plus Jakarta Sans"/>
                <a:cs typeface="Plus Jakarta Sans"/>
                <a:sym typeface="Plus Jakarta Sans"/>
              </a:rPr>
              <a:t>ENGINEERED SOLUTION</a:t>
            </a:r>
            <a:endParaRPr/>
          </a:p>
        </p:txBody>
      </p:sp>
      <p:sp>
        <p:nvSpPr>
          <p:cNvPr id="211" name="Google Shape;211;p17"/>
          <p:cNvSpPr txBox="1"/>
          <p:nvPr/>
        </p:nvSpPr>
        <p:spPr>
          <a:xfrm>
            <a:off x="5618112" y="4683175"/>
            <a:ext cx="56403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Plus Jakarta Sans"/>
                <a:ea typeface="Plus Jakarta Sans"/>
                <a:cs typeface="Plus Jakarta Sans"/>
                <a:sym typeface="Plus Jakarta Sans"/>
              </a:rPr>
              <a:t>Integrated a spatial fallback crosswalk to correctly map suburban MUD ZIP codes to accurate $28.50/month base fees.</a:t>
            </a:r>
            <a:endParaRPr/>
          </a:p>
        </p:txBody>
      </p:sp>
      <p:sp>
        <p:nvSpPr>
          <p:cNvPr id="212" name="Google Shape;212;p17"/>
          <p:cNvSpPr txBox="1"/>
          <p:nvPr/>
        </p:nvSpPr>
        <p:spPr>
          <a:xfrm>
            <a:off x="1066800" y="1929862"/>
            <a:ext cx="24879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F172A"/>
                </a:solidFill>
                <a:latin typeface="Plus Jakarta Sans"/>
                <a:ea typeface="Plus Jakarta Sans"/>
                <a:cs typeface="Plus Jakarta Sans"/>
                <a:sym typeface="Plus Jakarta Sans"/>
              </a:rPr>
              <a:t>OOM Memory Crashes</a:t>
            </a:r>
            <a:endParaRPr/>
          </a:p>
        </p:txBody>
      </p:sp>
      <p:sp>
        <p:nvSpPr>
          <p:cNvPr id="213" name="Google Shape;213;p17"/>
          <p:cNvSpPr txBox="1"/>
          <p:nvPr/>
        </p:nvSpPr>
        <p:spPr>
          <a:xfrm>
            <a:off x="1066800" y="3204338"/>
            <a:ext cx="26004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F172A"/>
                </a:solidFill>
                <a:latin typeface="Plus Jakarta Sans"/>
                <a:ea typeface="Plus Jakarta Sans"/>
                <a:cs typeface="Plus Jakarta Sans"/>
                <a:sym typeface="Plus Jakarta Sans"/>
              </a:rPr>
              <a:t>GIS Format Mismatches</a:t>
            </a:r>
            <a:endParaRPr/>
          </a:p>
        </p:txBody>
      </p:sp>
      <p:sp>
        <p:nvSpPr>
          <p:cNvPr id="214" name="Google Shape;214;p17"/>
          <p:cNvSpPr txBox="1"/>
          <p:nvPr/>
        </p:nvSpPr>
        <p:spPr>
          <a:xfrm>
            <a:off x="1066800" y="4559350"/>
            <a:ext cx="17751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F172A"/>
                </a:solidFill>
                <a:latin typeface="Plus Jakarta Sans"/>
                <a:ea typeface="Plus Jakarta Sans"/>
                <a:cs typeface="Plus Jakarta Sans"/>
                <a:sym typeface="Plus Jakarta Sans"/>
              </a:rPr>
              <a:t>TCEQ Data Gaps</a:t>
            </a:r>
            <a:endParaRPr/>
          </a:p>
        </p:txBody>
      </p:sp>
      <p:sp>
        <p:nvSpPr>
          <p:cNvPr id="215" name="Google Shape;215;p17"/>
          <p:cNvSpPr/>
          <p:nvPr/>
        </p:nvSpPr>
        <p:spPr>
          <a:xfrm>
            <a:off x="609600" y="5697925"/>
            <a:ext cx="10972800" cy="831300"/>
          </a:xfrm>
          <a:prstGeom prst="roundRect">
            <a:avLst>
              <a:gd name="adj" fmla="val 424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17"/>
          <p:cNvSpPr txBox="1"/>
          <p:nvPr/>
        </p:nvSpPr>
        <p:spPr>
          <a:xfrm>
            <a:off x="811725" y="5821750"/>
            <a:ext cx="10456200" cy="6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434343"/>
                </a:solidFill>
              </a:rPr>
              <a:t>What this means:</a:t>
            </a:r>
            <a:r>
              <a:rPr lang="en-US">
                <a:solidFill>
                  <a:srgbClr val="434343"/>
                </a:solidFill>
              </a:rPr>
              <a:t> When massive flood and utility files threatened to crash our system, we wrote custom chunking and mapping scripts to process the data efficiently.</a:t>
            </a:r>
            <a:endParaRPr sz="3500">
              <a:solidFill>
                <a:srgbClr val="434343"/>
              </a:solidFill>
              <a:latin typeface="Calibri"/>
              <a:ea typeface="Calibri"/>
              <a:cs typeface="Calibri"/>
              <a:sym typeface="Calibri"/>
            </a:endParaRPr>
          </a:p>
        </p:txBody>
      </p:sp>
      <p:sp>
        <p:nvSpPr>
          <p:cNvPr id="3" name="Google Shape;156;p15">
            <a:extLst>
              <a:ext uri="{FF2B5EF4-FFF2-40B4-BE49-F238E27FC236}">
                <a16:creationId xmlns:a16="http://schemas.microsoft.com/office/drawing/2014/main" id="{FE65F5FE-335E-B1F8-17E4-BC86E4A10BE5}"/>
              </a:ext>
            </a:extLst>
          </p:cNvPr>
          <p:cNvSpPr txBox="1"/>
          <p:nvPr/>
        </p:nvSpPr>
        <p:spPr>
          <a:xfrm>
            <a:off x="9814915" y="345415"/>
            <a:ext cx="19374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 Brandon M </a:t>
            </a:r>
            <a:endParaRPr sz="1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22"/>
        <p:cNvGrpSpPr/>
        <p:nvPr/>
      </p:nvGrpSpPr>
      <p:grpSpPr>
        <a:xfrm>
          <a:off x="0" y="0"/>
          <a:ext cx="0" cy="0"/>
          <a:chOff x="0" y="0"/>
          <a:chExt cx="0" cy="0"/>
        </a:xfrm>
      </p:grpSpPr>
      <p:sp>
        <p:nvSpPr>
          <p:cNvPr id="223" name="Google Shape;223;p18"/>
          <p:cNvSpPr/>
          <p:nvPr/>
        </p:nvSpPr>
        <p:spPr>
          <a:xfrm>
            <a:off x="609588" y="2103862"/>
            <a:ext cx="3479700" cy="3086100"/>
          </a:xfrm>
          <a:prstGeom prst="roundRect">
            <a:avLst>
              <a:gd name="adj" fmla="val 3703"/>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18"/>
          <p:cNvSpPr/>
          <p:nvPr/>
        </p:nvSpPr>
        <p:spPr>
          <a:xfrm>
            <a:off x="4356063" y="2103850"/>
            <a:ext cx="3479700" cy="3086100"/>
          </a:xfrm>
          <a:prstGeom prst="roundRect">
            <a:avLst>
              <a:gd name="adj" fmla="val 4040"/>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18"/>
          <p:cNvSpPr/>
          <p:nvPr/>
        </p:nvSpPr>
        <p:spPr>
          <a:xfrm>
            <a:off x="8102488" y="2103850"/>
            <a:ext cx="3479700" cy="3086100"/>
          </a:xfrm>
          <a:prstGeom prst="roundRect">
            <a:avLst>
              <a:gd name="adj" fmla="val 3418"/>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18"/>
          <p:cNvSpPr/>
          <p:nvPr/>
        </p:nvSpPr>
        <p:spPr>
          <a:xfrm>
            <a:off x="885813" y="2418187"/>
            <a:ext cx="342900" cy="342900"/>
          </a:xfrm>
          <a:prstGeom prst="roundRect">
            <a:avLst>
              <a:gd name="adj" fmla="val 50000"/>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18"/>
          <p:cNvSpPr/>
          <p:nvPr/>
        </p:nvSpPr>
        <p:spPr>
          <a:xfrm>
            <a:off x="4632263" y="2427713"/>
            <a:ext cx="342900" cy="342900"/>
          </a:xfrm>
          <a:prstGeom prst="roundRect">
            <a:avLst>
              <a:gd name="adj" fmla="val 50000"/>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18"/>
          <p:cNvSpPr/>
          <p:nvPr/>
        </p:nvSpPr>
        <p:spPr>
          <a:xfrm>
            <a:off x="8378713" y="2388378"/>
            <a:ext cx="342900" cy="342900"/>
          </a:xfrm>
          <a:prstGeom prst="roundRect">
            <a:avLst>
              <a:gd name="adj" fmla="val 50000"/>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2" name="Google Shape;232;p18"/>
          <p:cNvSpPr txBox="1"/>
          <p:nvPr/>
        </p:nvSpPr>
        <p:spPr>
          <a:xfrm>
            <a:off x="609600" y="4572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Plus Jakarta Sans"/>
                <a:ea typeface="Plus Jakarta Sans"/>
                <a:cs typeface="Plus Jakarta Sans"/>
                <a:sym typeface="Plus Jakarta Sans"/>
              </a:rPr>
              <a:t>DATA WRANGLING</a:t>
            </a:r>
            <a:endParaRPr/>
          </a:p>
        </p:txBody>
      </p:sp>
      <p:sp>
        <p:nvSpPr>
          <p:cNvPr id="233" name="Google Shape;233;p18"/>
          <p:cNvSpPr txBox="1"/>
          <p:nvPr/>
        </p:nvSpPr>
        <p:spPr>
          <a:xfrm>
            <a:off x="609600" y="1047750"/>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Plus Jakarta Sans"/>
                <a:ea typeface="Plus Jakarta Sans"/>
                <a:cs typeface="Plus Jakarta Sans"/>
                <a:sym typeface="Plus Jakarta Sans"/>
              </a:rPr>
              <a:t>Week 5: Transformation Pipelines</a:t>
            </a:r>
            <a:endParaRPr/>
          </a:p>
        </p:txBody>
      </p:sp>
      <p:sp>
        <p:nvSpPr>
          <p:cNvPr id="234" name="Google Shape;234;p18"/>
          <p:cNvSpPr txBox="1"/>
          <p:nvPr/>
        </p:nvSpPr>
        <p:spPr>
          <a:xfrm>
            <a:off x="742938" y="2478775"/>
            <a:ext cx="628800" cy="1848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b="1" i="0" u="none" strike="noStrike" cap="none">
                <a:solidFill>
                  <a:srgbClr val="FFFFFF"/>
                </a:solidFill>
                <a:latin typeface="Plus Jakarta Sans"/>
                <a:ea typeface="Plus Jakarta Sans"/>
                <a:cs typeface="Plus Jakarta Sans"/>
                <a:sym typeface="Plus Jakarta Sans"/>
              </a:rPr>
              <a:t>1</a:t>
            </a:r>
            <a:endParaRPr/>
          </a:p>
        </p:txBody>
      </p:sp>
      <p:sp>
        <p:nvSpPr>
          <p:cNvPr id="235" name="Google Shape;235;p18"/>
          <p:cNvSpPr txBox="1"/>
          <p:nvPr/>
        </p:nvSpPr>
        <p:spPr>
          <a:xfrm>
            <a:off x="885813" y="3040487"/>
            <a:ext cx="38421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Plus Jakarta Sans"/>
                <a:ea typeface="Plus Jakarta Sans"/>
                <a:cs typeface="Plus Jakarta Sans"/>
                <a:sym typeface="Plus Jakarta Sans"/>
              </a:rPr>
              <a:t>Quality Assurance</a:t>
            </a:r>
            <a:endParaRPr/>
          </a:p>
        </p:txBody>
      </p:sp>
      <p:sp>
        <p:nvSpPr>
          <p:cNvPr id="236" name="Google Shape;236;p18"/>
          <p:cNvSpPr txBox="1"/>
          <p:nvPr/>
        </p:nvSpPr>
        <p:spPr>
          <a:xfrm>
            <a:off x="885813" y="3332587"/>
            <a:ext cx="3022500" cy="1143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Plus Jakarta Sans"/>
                <a:ea typeface="Plus Jakarta Sans"/>
                <a:cs typeface="Plus Jakarta Sans"/>
                <a:sym typeface="Plus Jakarta Sans"/>
              </a:rPr>
              <a:t>Standardized primary keys to 5-digit zero-padded strings and achieved zero missing values across the 279 ZIP code index.</a:t>
            </a:r>
            <a:endParaRPr/>
          </a:p>
        </p:txBody>
      </p:sp>
      <p:sp>
        <p:nvSpPr>
          <p:cNvPr id="237" name="Google Shape;237;p18"/>
          <p:cNvSpPr txBox="1"/>
          <p:nvPr/>
        </p:nvSpPr>
        <p:spPr>
          <a:xfrm>
            <a:off x="885813" y="4666087"/>
            <a:ext cx="30225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59669"/>
                </a:solidFill>
                <a:latin typeface="Plus Jakarta Sans"/>
                <a:ea typeface="Plus Jakarta Sans"/>
                <a:cs typeface="Plus Jakarta Sans"/>
                <a:sym typeface="Plus Jakarta Sans"/>
              </a:rPr>
              <a:t>0 Missing Values</a:t>
            </a:r>
            <a:endParaRPr/>
          </a:p>
        </p:txBody>
      </p:sp>
      <p:sp>
        <p:nvSpPr>
          <p:cNvPr id="238" name="Google Shape;238;p18"/>
          <p:cNvSpPr txBox="1"/>
          <p:nvPr/>
        </p:nvSpPr>
        <p:spPr>
          <a:xfrm>
            <a:off x="4489313" y="2506750"/>
            <a:ext cx="628800" cy="1848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b="1" i="0" u="none" strike="noStrike" cap="none">
                <a:solidFill>
                  <a:srgbClr val="FFFFFF"/>
                </a:solidFill>
                <a:latin typeface="Plus Jakarta Sans"/>
                <a:ea typeface="Plus Jakarta Sans"/>
                <a:cs typeface="Plus Jakarta Sans"/>
                <a:sym typeface="Plus Jakarta Sans"/>
              </a:rPr>
              <a:t>2</a:t>
            </a:r>
            <a:endParaRPr/>
          </a:p>
        </p:txBody>
      </p:sp>
      <p:sp>
        <p:nvSpPr>
          <p:cNvPr id="239" name="Google Shape;239;p18"/>
          <p:cNvSpPr txBox="1"/>
          <p:nvPr/>
        </p:nvSpPr>
        <p:spPr>
          <a:xfrm>
            <a:off x="4632263" y="3042075"/>
            <a:ext cx="38421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Plus Jakarta Sans"/>
                <a:ea typeface="Plus Jakarta Sans"/>
                <a:cs typeface="Plus Jakarta Sans"/>
                <a:sym typeface="Plus Jakarta Sans"/>
              </a:rPr>
              <a:t>Feature Engineering</a:t>
            </a:r>
            <a:endParaRPr/>
          </a:p>
        </p:txBody>
      </p:sp>
      <p:sp>
        <p:nvSpPr>
          <p:cNvPr id="240" name="Google Shape;240;p18"/>
          <p:cNvSpPr txBox="1"/>
          <p:nvPr/>
        </p:nvSpPr>
        <p:spPr>
          <a:xfrm>
            <a:off x="4632263" y="3461175"/>
            <a:ext cx="3022500" cy="831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Plus Jakarta Sans"/>
                <a:ea typeface="Plus Jakarta Sans"/>
                <a:cs typeface="Plus Jakarta Sans"/>
                <a:sym typeface="Plus Jakarta Sans"/>
              </a:rPr>
              <a:t>Constructed 20 encoded features balancing physical hazards against regulated infrastructure pricing.</a:t>
            </a:r>
            <a:endParaRPr/>
          </a:p>
        </p:txBody>
      </p:sp>
      <p:sp>
        <p:nvSpPr>
          <p:cNvPr id="241" name="Google Shape;241;p18"/>
          <p:cNvSpPr txBox="1"/>
          <p:nvPr/>
        </p:nvSpPr>
        <p:spPr>
          <a:xfrm>
            <a:off x="4632263" y="4537500"/>
            <a:ext cx="30225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Plus Jakarta Sans"/>
                <a:ea typeface="Plus Jakarta Sans"/>
                <a:cs typeface="Plus Jakarta Sans"/>
                <a:sym typeface="Plus Jakarta Sans"/>
              </a:rPr>
              <a:t>20 Encoded Attributes</a:t>
            </a:r>
            <a:endParaRPr/>
          </a:p>
        </p:txBody>
      </p:sp>
      <p:sp>
        <p:nvSpPr>
          <p:cNvPr id="242" name="Google Shape;242;p18"/>
          <p:cNvSpPr txBox="1"/>
          <p:nvPr/>
        </p:nvSpPr>
        <p:spPr>
          <a:xfrm>
            <a:off x="8235688" y="2467428"/>
            <a:ext cx="628800" cy="1848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b="1" i="0" u="none" strike="noStrike" cap="none">
                <a:solidFill>
                  <a:srgbClr val="FFFFFF"/>
                </a:solidFill>
                <a:latin typeface="Plus Jakarta Sans"/>
                <a:ea typeface="Plus Jakarta Sans"/>
                <a:cs typeface="Plus Jakarta Sans"/>
                <a:sym typeface="Plus Jakarta Sans"/>
              </a:rPr>
              <a:t>3</a:t>
            </a:r>
            <a:endParaRPr/>
          </a:p>
        </p:txBody>
      </p:sp>
      <p:sp>
        <p:nvSpPr>
          <p:cNvPr id="243" name="Google Shape;243;p18"/>
          <p:cNvSpPr txBox="1"/>
          <p:nvPr/>
        </p:nvSpPr>
        <p:spPr>
          <a:xfrm>
            <a:off x="8378713" y="2911900"/>
            <a:ext cx="38133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Plus Jakarta Sans"/>
                <a:ea typeface="Plus Jakarta Sans"/>
                <a:cs typeface="Plus Jakarta Sans"/>
                <a:sym typeface="Plus Jakarta Sans"/>
              </a:rPr>
              <a:t>Pipeline Automation</a:t>
            </a:r>
            <a:endParaRPr/>
          </a:p>
        </p:txBody>
      </p:sp>
      <p:sp>
        <p:nvSpPr>
          <p:cNvPr id="244" name="Google Shape;244;p18"/>
          <p:cNvSpPr txBox="1"/>
          <p:nvPr/>
        </p:nvSpPr>
        <p:spPr>
          <a:xfrm>
            <a:off x="8378712" y="3175778"/>
            <a:ext cx="2895502" cy="1558119"/>
          </a:xfrm>
          <a:prstGeom prst="rect">
            <a:avLst/>
          </a:prstGeom>
          <a:noFill/>
          <a:ln>
            <a:noFill/>
          </a:ln>
        </p:spPr>
        <p:txBody>
          <a:bodyPr spcFirstLastPara="1" wrap="square" lIns="0" tIns="0" rIns="0" bIns="0" anchor="t" anchorCtr="0">
            <a:spAutoFit/>
          </a:bodyPr>
          <a:lstStyle/>
          <a:p>
            <a:pPr>
              <a:lnSpc>
                <a:spcPct val="150000"/>
              </a:lnSpc>
            </a:pPr>
            <a:r>
              <a:rPr lang="en-US" sz="1350" b="0" i="0" u="none" strike="noStrike" cap="none" dirty="0">
                <a:solidFill>
                  <a:srgbClr val="334155"/>
                </a:solidFill>
                <a:latin typeface="Plus Jakarta Sans"/>
                <a:ea typeface="Plus Jakarta Sans"/>
                <a:cs typeface="Plus Jakarta Sans"/>
                <a:sym typeface="Plus Jakarta Sans"/>
              </a:rPr>
              <a:t>Designed a Scikit-Learn </a:t>
            </a:r>
            <a:r>
              <a:rPr lang="en-US" sz="1350" dirty="0">
                <a:solidFill>
                  <a:srgbClr val="334155"/>
                </a:solidFill>
                <a:latin typeface="Plus Jakarta Sans"/>
                <a:ea typeface="Plus Jakarta Sans"/>
                <a:cs typeface="Plus Jakarta Sans"/>
                <a:sym typeface="Plus Jakarta Sans"/>
              </a:rPr>
              <a:t>Column Transformer</a:t>
            </a:r>
            <a:r>
              <a:rPr lang="en-US" sz="1350" b="0" i="0" u="none" strike="noStrike" cap="none" dirty="0">
                <a:solidFill>
                  <a:srgbClr val="334155"/>
                </a:solidFill>
                <a:latin typeface="Plus Jakarta Sans"/>
                <a:ea typeface="Plus Jakarta Sans"/>
                <a:cs typeface="Plus Jakarta Sans"/>
                <a:sym typeface="Plus Jakarta Sans"/>
              </a:rPr>
              <a:t> applying </a:t>
            </a:r>
            <a:r>
              <a:rPr lang="en-US" sz="1350" dirty="0">
                <a:solidFill>
                  <a:srgbClr val="334155"/>
                </a:solidFill>
                <a:latin typeface="Plus Jakarta Sans"/>
                <a:ea typeface="Plus Jakarta Sans"/>
                <a:cs typeface="Plus Jakarta Sans"/>
                <a:sym typeface="Plus Jakarta Sans"/>
              </a:rPr>
              <a:t>Standard Scaler</a:t>
            </a:r>
            <a:r>
              <a:rPr lang="en-US" sz="1350" b="0" i="0" u="none" strike="noStrike" cap="none" dirty="0">
                <a:solidFill>
                  <a:srgbClr val="334155"/>
                </a:solidFill>
                <a:latin typeface="Plus Jakarta Sans"/>
                <a:ea typeface="Plus Jakarta Sans"/>
                <a:cs typeface="Plus Jakarta Sans"/>
                <a:sym typeface="Plus Jakarta Sans"/>
              </a:rPr>
              <a:t> to continuous metrics and </a:t>
            </a:r>
            <a:r>
              <a:rPr lang="en-US" sz="1350" dirty="0">
                <a:solidFill>
                  <a:srgbClr val="334155"/>
                </a:solidFill>
                <a:latin typeface="Plus Jakarta Sans"/>
                <a:ea typeface="Plus Jakarta Sans"/>
                <a:cs typeface="Plus Jakarta Sans"/>
                <a:sym typeface="Plus Jakarta Sans"/>
              </a:rPr>
              <a:t>One-Hot Encoder</a:t>
            </a:r>
            <a:r>
              <a:rPr lang="en-US" sz="1350" b="0" i="0" u="none" strike="noStrike" cap="none" dirty="0">
                <a:solidFill>
                  <a:srgbClr val="334155"/>
                </a:solidFill>
                <a:latin typeface="Plus Jakarta Sans"/>
                <a:ea typeface="Plus Jakarta Sans"/>
                <a:cs typeface="Plus Jakarta Sans"/>
                <a:sym typeface="Plus Jakarta Sans"/>
              </a:rPr>
              <a:t> to categorical risk tiers.</a:t>
            </a:r>
            <a:endParaRPr dirty="0"/>
          </a:p>
        </p:txBody>
      </p:sp>
      <p:sp>
        <p:nvSpPr>
          <p:cNvPr id="245" name="Google Shape;245;p18"/>
          <p:cNvSpPr txBox="1"/>
          <p:nvPr/>
        </p:nvSpPr>
        <p:spPr>
          <a:xfrm>
            <a:off x="8378713" y="4822897"/>
            <a:ext cx="30225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7C3AED"/>
                </a:solidFill>
                <a:latin typeface="Plus Jakarta Sans"/>
                <a:ea typeface="Plus Jakarta Sans"/>
                <a:cs typeface="Plus Jakarta Sans"/>
                <a:sym typeface="Plus Jakarta Sans"/>
              </a:rPr>
              <a:t>ColumnTransformer</a:t>
            </a:r>
            <a:endParaRPr/>
          </a:p>
        </p:txBody>
      </p:sp>
      <p:sp>
        <p:nvSpPr>
          <p:cNvPr id="246" name="Google Shape;246;p18"/>
          <p:cNvSpPr/>
          <p:nvPr/>
        </p:nvSpPr>
        <p:spPr>
          <a:xfrm>
            <a:off x="609600" y="5697925"/>
            <a:ext cx="10972800" cy="831300"/>
          </a:xfrm>
          <a:prstGeom prst="roundRect">
            <a:avLst>
              <a:gd name="adj" fmla="val 4242"/>
            </a:avLst>
          </a:prstGeom>
          <a:solidFill>
            <a:schemeClr val="lt1"/>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18"/>
          <p:cNvSpPr txBox="1"/>
          <p:nvPr/>
        </p:nvSpPr>
        <p:spPr>
          <a:xfrm>
            <a:off x="811725" y="5821750"/>
            <a:ext cx="10456200" cy="6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434343"/>
                </a:solidFill>
              </a:rPr>
              <a:t>What this means:</a:t>
            </a:r>
            <a:r>
              <a:rPr lang="en-US">
                <a:solidFill>
                  <a:srgbClr val="434343"/>
                </a:solidFill>
              </a:rPr>
              <a:t> We cleaned and normalized all 279 local ZIP codes into 20 standardized numeric and risk features ready for machine learning.</a:t>
            </a:r>
            <a:endParaRPr sz="3500">
              <a:solidFill>
                <a:srgbClr val="434343"/>
              </a:solidFill>
              <a:latin typeface="Calibri"/>
              <a:ea typeface="Calibri"/>
              <a:cs typeface="Calibri"/>
              <a:sym typeface="Calibri"/>
            </a:endParaRPr>
          </a:p>
        </p:txBody>
      </p:sp>
      <p:sp>
        <p:nvSpPr>
          <p:cNvPr id="249" name="Google Shape;249;p18"/>
          <p:cNvSpPr txBox="1"/>
          <p:nvPr/>
        </p:nvSpPr>
        <p:spPr>
          <a:xfrm>
            <a:off x="9845395" y="345415"/>
            <a:ext cx="19374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 Taki Eddine B</a:t>
            </a:r>
            <a:endParaRPr sz="1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3"/>
        <p:cNvGrpSpPr/>
        <p:nvPr/>
      </p:nvGrpSpPr>
      <p:grpSpPr>
        <a:xfrm>
          <a:off x="0" y="0"/>
          <a:ext cx="0" cy="0"/>
          <a:chOff x="0" y="0"/>
          <a:chExt cx="0" cy="0"/>
        </a:xfrm>
      </p:grpSpPr>
      <p:sp>
        <p:nvSpPr>
          <p:cNvPr id="254" name="Google Shape;254;p19"/>
          <p:cNvSpPr/>
          <p:nvPr/>
        </p:nvSpPr>
        <p:spPr>
          <a:xfrm>
            <a:off x="609600" y="1623462"/>
            <a:ext cx="10972800" cy="1228800"/>
          </a:xfrm>
          <a:prstGeom prst="roundRect">
            <a:avLst>
              <a:gd name="adj" fmla="val 930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19"/>
          <p:cNvSpPr/>
          <p:nvPr/>
        </p:nvSpPr>
        <p:spPr>
          <a:xfrm>
            <a:off x="609600" y="3023637"/>
            <a:ext cx="10972800" cy="1228800"/>
          </a:xfrm>
          <a:prstGeom prst="roundRect">
            <a:avLst>
              <a:gd name="adj" fmla="val 930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19"/>
          <p:cNvSpPr/>
          <p:nvPr/>
        </p:nvSpPr>
        <p:spPr>
          <a:xfrm>
            <a:off x="609600" y="4423812"/>
            <a:ext cx="10972800" cy="1219200"/>
          </a:xfrm>
          <a:prstGeom prst="roundRect">
            <a:avLst>
              <a:gd name="adj" fmla="val 9375"/>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19"/>
          <p:cNvSpPr/>
          <p:nvPr/>
        </p:nvSpPr>
        <p:spPr>
          <a:xfrm>
            <a:off x="3291028" y="1840906"/>
            <a:ext cx="1733700" cy="247800"/>
          </a:xfrm>
          <a:prstGeom prst="roundRect">
            <a:avLst>
              <a:gd name="adj" fmla="val 15384"/>
            </a:avLst>
          </a:prstGeom>
          <a:solidFill>
            <a:srgbClr val="FEE2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19"/>
          <p:cNvSpPr/>
          <p:nvPr/>
        </p:nvSpPr>
        <p:spPr>
          <a:xfrm>
            <a:off x="3437291" y="3231953"/>
            <a:ext cx="1137355" cy="233689"/>
          </a:xfrm>
          <a:prstGeom prst="roundRect">
            <a:avLst>
              <a:gd name="adj" fmla="val 15384"/>
            </a:avLst>
          </a:prstGeom>
          <a:solidFill>
            <a:srgbClr val="FEE2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59" name="Google Shape;259;p19" descr="image.png"/>
          <p:cNvPicPr preferRelativeResize="0"/>
          <p:nvPr/>
        </p:nvPicPr>
        <p:blipFill rotWithShape="1">
          <a:blip r:embed="rId3">
            <a:alphaModFix/>
          </a:blip>
          <a:srcRect/>
          <a:stretch/>
        </p:blipFill>
        <p:spPr>
          <a:xfrm>
            <a:off x="885825" y="1875875"/>
            <a:ext cx="190500" cy="171450"/>
          </a:xfrm>
          <a:prstGeom prst="rect">
            <a:avLst/>
          </a:prstGeom>
          <a:noFill/>
          <a:ln>
            <a:noFill/>
          </a:ln>
        </p:spPr>
      </p:pic>
      <p:pic>
        <p:nvPicPr>
          <p:cNvPr id="260" name="Google Shape;260;p19" descr="image.png"/>
          <p:cNvPicPr preferRelativeResize="0"/>
          <p:nvPr/>
        </p:nvPicPr>
        <p:blipFill rotWithShape="1">
          <a:blip r:embed="rId4">
            <a:alphaModFix/>
          </a:blip>
          <a:srcRect/>
          <a:stretch/>
        </p:blipFill>
        <p:spPr>
          <a:xfrm>
            <a:off x="815269" y="2447551"/>
            <a:ext cx="133350" cy="152400"/>
          </a:xfrm>
          <a:prstGeom prst="rect">
            <a:avLst/>
          </a:prstGeom>
          <a:noFill/>
          <a:ln>
            <a:noFill/>
          </a:ln>
        </p:spPr>
      </p:pic>
      <p:pic>
        <p:nvPicPr>
          <p:cNvPr id="261" name="Google Shape;261;p19" descr="image.png"/>
          <p:cNvPicPr preferRelativeResize="0"/>
          <p:nvPr/>
        </p:nvPicPr>
        <p:blipFill rotWithShape="1">
          <a:blip r:embed="rId5">
            <a:alphaModFix/>
          </a:blip>
          <a:srcRect/>
          <a:stretch/>
        </p:blipFill>
        <p:spPr>
          <a:xfrm>
            <a:off x="885825" y="3276050"/>
            <a:ext cx="171450" cy="171450"/>
          </a:xfrm>
          <a:prstGeom prst="rect">
            <a:avLst/>
          </a:prstGeom>
          <a:noFill/>
          <a:ln>
            <a:noFill/>
          </a:ln>
        </p:spPr>
      </p:pic>
      <p:pic>
        <p:nvPicPr>
          <p:cNvPr id="262" name="Google Shape;262;p19" descr="image.png"/>
          <p:cNvPicPr preferRelativeResize="0"/>
          <p:nvPr/>
        </p:nvPicPr>
        <p:blipFill rotWithShape="1">
          <a:blip r:embed="rId4">
            <a:alphaModFix/>
          </a:blip>
          <a:srcRect/>
          <a:stretch/>
        </p:blipFill>
        <p:spPr>
          <a:xfrm>
            <a:off x="815269" y="3833615"/>
            <a:ext cx="133350" cy="152400"/>
          </a:xfrm>
          <a:prstGeom prst="rect">
            <a:avLst/>
          </a:prstGeom>
          <a:noFill/>
          <a:ln>
            <a:noFill/>
          </a:ln>
        </p:spPr>
      </p:pic>
      <p:pic>
        <p:nvPicPr>
          <p:cNvPr id="263" name="Google Shape;263;p19" descr="image.png"/>
          <p:cNvPicPr preferRelativeResize="0"/>
          <p:nvPr/>
        </p:nvPicPr>
        <p:blipFill rotWithShape="1">
          <a:blip r:embed="rId6">
            <a:alphaModFix/>
          </a:blip>
          <a:srcRect/>
          <a:stretch/>
        </p:blipFill>
        <p:spPr>
          <a:xfrm>
            <a:off x="885825" y="4676225"/>
            <a:ext cx="171450" cy="171450"/>
          </a:xfrm>
          <a:prstGeom prst="rect">
            <a:avLst/>
          </a:prstGeom>
          <a:noFill/>
          <a:ln>
            <a:noFill/>
          </a:ln>
        </p:spPr>
      </p:pic>
      <p:pic>
        <p:nvPicPr>
          <p:cNvPr id="264" name="Google Shape;264;p19" descr="image.png"/>
          <p:cNvPicPr preferRelativeResize="0"/>
          <p:nvPr/>
        </p:nvPicPr>
        <p:blipFill rotWithShape="1">
          <a:blip r:embed="rId4">
            <a:alphaModFix/>
          </a:blip>
          <a:srcRect/>
          <a:stretch/>
        </p:blipFill>
        <p:spPr>
          <a:xfrm>
            <a:off x="815269" y="5224265"/>
            <a:ext cx="133350" cy="152400"/>
          </a:xfrm>
          <a:prstGeom prst="rect">
            <a:avLst/>
          </a:prstGeom>
          <a:noFill/>
          <a:ln>
            <a:noFill/>
          </a:ln>
        </p:spPr>
      </p:pic>
      <p:sp>
        <p:nvSpPr>
          <p:cNvPr id="265" name="Google Shape;265;p19"/>
          <p:cNvSpPr txBox="1"/>
          <p:nvPr/>
        </p:nvSpPr>
        <p:spPr>
          <a:xfrm>
            <a:off x="609600" y="4572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Plus Jakarta Sans"/>
                <a:ea typeface="Plus Jakarta Sans"/>
                <a:cs typeface="Plus Jakarta Sans"/>
                <a:sym typeface="Plus Jakarta Sans"/>
              </a:rPr>
              <a:t>PIPELINE DEBUGGING &amp; INTEGRITY</a:t>
            </a:r>
            <a:endParaRPr/>
          </a:p>
        </p:txBody>
      </p:sp>
      <p:sp>
        <p:nvSpPr>
          <p:cNvPr id="266" name="Google Shape;266;p19"/>
          <p:cNvSpPr txBox="1"/>
          <p:nvPr/>
        </p:nvSpPr>
        <p:spPr>
          <a:xfrm>
            <a:off x="609600" y="929850"/>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Plus Jakarta Sans"/>
                <a:ea typeface="Plus Jakarta Sans"/>
                <a:cs typeface="Plus Jakarta Sans"/>
                <a:sym typeface="Plus Jakarta Sans"/>
              </a:rPr>
              <a:t>Week 5: Engineering the Feature Store</a:t>
            </a:r>
            <a:endParaRPr/>
          </a:p>
        </p:txBody>
      </p:sp>
      <p:sp>
        <p:nvSpPr>
          <p:cNvPr id="267" name="Google Shape;267;p19"/>
          <p:cNvSpPr txBox="1"/>
          <p:nvPr/>
        </p:nvSpPr>
        <p:spPr>
          <a:xfrm>
            <a:off x="885825" y="2137796"/>
            <a:ext cx="5138700" cy="196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0" i="0" u="none" strike="noStrike" cap="none">
                <a:solidFill>
                  <a:srgbClr val="475569"/>
                </a:solidFill>
                <a:latin typeface="Plus Jakarta Sans"/>
                <a:ea typeface="Plus Jakarta Sans"/>
                <a:cs typeface="Plus Jakarta Sans"/>
                <a:sym typeface="Plus Jakarta Sans"/>
              </a:rPr>
              <a:t>Hyphenated directory mismatches and Colab cache lag triggered .</a:t>
            </a:r>
            <a:endParaRPr/>
          </a:p>
        </p:txBody>
      </p:sp>
      <p:sp>
        <p:nvSpPr>
          <p:cNvPr id="268" name="Google Shape;268;p19"/>
          <p:cNvSpPr txBox="1"/>
          <p:nvPr/>
        </p:nvSpPr>
        <p:spPr>
          <a:xfrm>
            <a:off x="885825" y="2433087"/>
            <a:ext cx="11306100" cy="18480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200" b="1" i="0" u="none" strike="noStrike" cap="none">
                <a:solidFill>
                  <a:srgbClr val="16A34A"/>
                </a:solidFill>
                <a:latin typeface="Plus Jakarta Sans"/>
                <a:ea typeface="Plus Jakarta Sans"/>
                <a:cs typeface="Plus Jakarta Sans"/>
                <a:sym typeface="Plus Jakarta Sans"/>
              </a:rPr>
              <a:t>Solution: Executed explicit Drive searches and forced cache remounts.</a:t>
            </a:r>
            <a:endParaRPr/>
          </a:p>
        </p:txBody>
      </p:sp>
      <p:sp>
        <p:nvSpPr>
          <p:cNvPr id="269" name="Google Shape;269;p19"/>
          <p:cNvSpPr txBox="1"/>
          <p:nvPr/>
        </p:nvSpPr>
        <p:spPr>
          <a:xfrm>
            <a:off x="885825" y="3537975"/>
            <a:ext cx="4819500" cy="196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0" i="0" u="none" strike="noStrike" cap="none">
                <a:solidFill>
                  <a:srgbClr val="475569"/>
                </a:solidFill>
                <a:latin typeface="Plus Jakarta Sans"/>
                <a:ea typeface="Plus Jakarta Sans"/>
                <a:cs typeface="Plus Jakarta Sans"/>
                <a:sym typeface="Plus Jakarta Sans"/>
              </a:rPr>
              <a:t>Raw strings (e.g., 'CenterPoint') triggered Scikit-Learn crashes.</a:t>
            </a:r>
            <a:endParaRPr/>
          </a:p>
        </p:txBody>
      </p:sp>
      <p:sp>
        <p:nvSpPr>
          <p:cNvPr id="270" name="Google Shape;270;p19"/>
          <p:cNvSpPr txBox="1"/>
          <p:nvPr/>
        </p:nvSpPr>
        <p:spPr>
          <a:xfrm>
            <a:off x="885825" y="3833262"/>
            <a:ext cx="11306100" cy="18480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200" b="1" i="0" u="none" strike="noStrike" cap="none">
                <a:solidFill>
                  <a:srgbClr val="16A34A"/>
                </a:solidFill>
                <a:latin typeface="Plus Jakarta Sans"/>
                <a:ea typeface="Plus Jakarta Sans"/>
                <a:cs typeface="Plus Jakarta Sans"/>
                <a:sym typeface="Plus Jakarta Sans"/>
              </a:rPr>
              <a:t>Solution: Redesigned the pipeline to explicitly drop non-encoded string columns.</a:t>
            </a:r>
            <a:endParaRPr/>
          </a:p>
        </p:txBody>
      </p:sp>
      <p:sp>
        <p:nvSpPr>
          <p:cNvPr id="271" name="Google Shape;271;p19"/>
          <p:cNvSpPr txBox="1"/>
          <p:nvPr/>
        </p:nvSpPr>
        <p:spPr>
          <a:xfrm>
            <a:off x="885825" y="4938162"/>
            <a:ext cx="11306100" cy="196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0" i="0" u="none" strike="noStrike" cap="none">
                <a:solidFill>
                  <a:srgbClr val="475569"/>
                </a:solidFill>
                <a:latin typeface="Plus Jakarta Sans"/>
                <a:ea typeface="Plus Jakarta Sans"/>
                <a:cs typeface="Plus Jakarta Sans"/>
                <a:sym typeface="Plus Jakarta Sans"/>
              </a:rPr>
              <a:t>Static regional constants (e.g., $18.50 gas base fee) skewed Euclidean distances.</a:t>
            </a:r>
            <a:endParaRPr/>
          </a:p>
        </p:txBody>
      </p:sp>
      <p:sp>
        <p:nvSpPr>
          <p:cNvPr id="272" name="Google Shape;272;p19"/>
          <p:cNvSpPr txBox="1"/>
          <p:nvPr/>
        </p:nvSpPr>
        <p:spPr>
          <a:xfrm>
            <a:off x="885825" y="5223912"/>
            <a:ext cx="11306100" cy="18480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200" b="1" i="0" u="none" strike="noStrike" cap="none">
                <a:solidFill>
                  <a:srgbClr val="16A34A"/>
                </a:solidFill>
                <a:latin typeface="Plus Jakarta Sans"/>
                <a:ea typeface="Plus Jakarta Sans"/>
                <a:cs typeface="Plus Jakarta Sans"/>
                <a:sym typeface="Plus Jakarta Sans"/>
              </a:rPr>
              <a:t>Solution: Filtered static metrics out of the clustering matrix but retained them for the deterministic engine.</a:t>
            </a:r>
            <a:endParaRPr/>
          </a:p>
        </p:txBody>
      </p:sp>
      <p:sp>
        <p:nvSpPr>
          <p:cNvPr id="273" name="Google Shape;273;p19"/>
          <p:cNvSpPr txBox="1"/>
          <p:nvPr/>
        </p:nvSpPr>
        <p:spPr>
          <a:xfrm>
            <a:off x="1171575" y="1842537"/>
            <a:ext cx="23502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Drive Pathing Errors</a:t>
            </a:r>
            <a:endParaRPr/>
          </a:p>
        </p:txBody>
      </p:sp>
      <p:sp>
        <p:nvSpPr>
          <p:cNvPr id="274" name="Google Shape;274;p19"/>
          <p:cNvSpPr txBox="1"/>
          <p:nvPr/>
        </p:nvSpPr>
        <p:spPr>
          <a:xfrm>
            <a:off x="3314739" y="1880818"/>
            <a:ext cx="1714500" cy="196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0" i="0" u="none" strike="noStrike" cap="none">
                <a:solidFill>
                  <a:srgbClr val="DC2626"/>
                </a:solidFill>
                <a:latin typeface="JetBrains Mono"/>
                <a:ea typeface="JetBrains Mono"/>
                <a:cs typeface="JetBrains Mono"/>
                <a:sym typeface="JetBrains Mono"/>
              </a:rPr>
              <a:t>FileNotFoundError</a:t>
            </a:r>
            <a:endParaRPr/>
          </a:p>
        </p:txBody>
      </p:sp>
      <p:sp>
        <p:nvSpPr>
          <p:cNvPr id="275" name="Google Shape;275;p19"/>
          <p:cNvSpPr txBox="1"/>
          <p:nvPr/>
        </p:nvSpPr>
        <p:spPr>
          <a:xfrm>
            <a:off x="1152525" y="3242712"/>
            <a:ext cx="26502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Vectorization Crashes</a:t>
            </a:r>
            <a:endParaRPr/>
          </a:p>
        </p:txBody>
      </p:sp>
      <p:sp>
        <p:nvSpPr>
          <p:cNvPr id="276" name="Google Shape;276;p19"/>
          <p:cNvSpPr txBox="1"/>
          <p:nvPr/>
        </p:nvSpPr>
        <p:spPr>
          <a:xfrm>
            <a:off x="3526758" y="3243567"/>
            <a:ext cx="1047900" cy="196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0" i="0" u="none" strike="noStrike" cap="none">
                <a:solidFill>
                  <a:srgbClr val="DC2626"/>
                </a:solidFill>
                <a:latin typeface="JetBrains Mono"/>
                <a:ea typeface="JetBrains Mono"/>
                <a:cs typeface="JetBrains Mono"/>
                <a:sym typeface="JetBrains Mono"/>
              </a:rPr>
              <a:t>ValueError</a:t>
            </a:r>
            <a:endParaRPr/>
          </a:p>
        </p:txBody>
      </p:sp>
      <p:sp>
        <p:nvSpPr>
          <p:cNvPr id="277" name="Google Shape;277;p19"/>
          <p:cNvSpPr txBox="1"/>
          <p:nvPr/>
        </p:nvSpPr>
        <p:spPr>
          <a:xfrm>
            <a:off x="1152525" y="4642887"/>
            <a:ext cx="24879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Zero-Variance Skew</a:t>
            </a:r>
            <a:endParaRPr/>
          </a:p>
        </p:txBody>
      </p:sp>
      <p:sp>
        <p:nvSpPr>
          <p:cNvPr id="278" name="Google Shape;278;p19"/>
          <p:cNvSpPr/>
          <p:nvPr/>
        </p:nvSpPr>
        <p:spPr>
          <a:xfrm>
            <a:off x="609600" y="5814375"/>
            <a:ext cx="10972800" cy="831300"/>
          </a:xfrm>
          <a:prstGeom prst="roundRect">
            <a:avLst>
              <a:gd name="adj" fmla="val 424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19"/>
          <p:cNvSpPr txBox="1"/>
          <p:nvPr/>
        </p:nvSpPr>
        <p:spPr>
          <a:xfrm>
            <a:off x="811725" y="5938200"/>
            <a:ext cx="10456200" cy="6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434343"/>
                </a:solidFill>
              </a:rPr>
              <a:t>What this means:</a:t>
            </a:r>
            <a:r>
              <a:rPr lang="en-US">
                <a:solidFill>
                  <a:srgbClr val="434343"/>
                </a:solidFill>
              </a:rPr>
              <a:t> We stripped out static fees and non-numeric labels that were causing errors and skewing our distance calculations in Scikit-Learn.</a:t>
            </a:r>
            <a:endParaRPr sz="3500">
              <a:solidFill>
                <a:srgbClr val="434343"/>
              </a:solidFill>
              <a:latin typeface="Calibri"/>
              <a:ea typeface="Calibri"/>
              <a:cs typeface="Calibri"/>
              <a:sym typeface="Calibri"/>
            </a:endParaRPr>
          </a:p>
        </p:txBody>
      </p:sp>
      <p:sp>
        <p:nvSpPr>
          <p:cNvPr id="281" name="Google Shape;281;p19"/>
          <p:cNvSpPr txBox="1"/>
          <p:nvPr/>
        </p:nvSpPr>
        <p:spPr>
          <a:xfrm>
            <a:off x="9642195" y="345415"/>
            <a:ext cx="19374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 Taki Eddine B</a:t>
            </a:r>
            <a:endParaRPr sz="1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85"/>
        <p:cNvGrpSpPr/>
        <p:nvPr/>
      </p:nvGrpSpPr>
      <p:grpSpPr>
        <a:xfrm>
          <a:off x="0" y="0"/>
          <a:ext cx="0" cy="0"/>
          <a:chOff x="0" y="0"/>
          <a:chExt cx="0" cy="0"/>
        </a:xfrm>
      </p:grpSpPr>
      <p:sp>
        <p:nvSpPr>
          <p:cNvPr id="286" name="Google Shape;286;p20"/>
          <p:cNvSpPr/>
          <p:nvPr/>
        </p:nvSpPr>
        <p:spPr>
          <a:xfrm>
            <a:off x="609600" y="1916425"/>
            <a:ext cx="5391300" cy="962100"/>
          </a:xfrm>
          <a:prstGeom prst="roundRect">
            <a:avLst>
              <a:gd name="adj" fmla="val 9900"/>
            </a:avLst>
          </a:prstGeom>
          <a:solidFill>
            <a:srgbClr val="FFF1F2"/>
          </a:solidFill>
          <a:ln w="9525" cap="flat" cmpd="sng">
            <a:solidFill>
              <a:srgbClr val="FECDD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0"/>
          <p:cNvSpPr/>
          <p:nvPr/>
        </p:nvSpPr>
        <p:spPr>
          <a:xfrm>
            <a:off x="6191250" y="1916425"/>
            <a:ext cx="5391300" cy="962100"/>
          </a:xfrm>
          <a:prstGeom prst="roundRect">
            <a:avLst>
              <a:gd name="adj" fmla="val 9900"/>
            </a:avLst>
          </a:prstGeom>
          <a:solidFill>
            <a:srgbClr val="F0FDF4"/>
          </a:solidFill>
          <a:ln w="9525" cap="flat" cmpd="sng">
            <a:solidFill>
              <a:srgbClr val="BBF7D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8" name="Google Shape;288;p20"/>
          <p:cNvSpPr/>
          <p:nvPr/>
        </p:nvSpPr>
        <p:spPr>
          <a:xfrm>
            <a:off x="603925" y="3428994"/>
            <a:ext cx="2628900" cy="1821000"/>
          </a:xfrm>
          <a:prstGeom prst="roundRect">
            <a:avLst>
              <a:gd name="adj" fmla="val 523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9" name="Google Shape;289;p20"/>
          <p:cNvSpPr/>
          <p:nvPr/>
        </p:nvSpPr>
        <p:spPr>
          <a:xfrm>
            <a:off x="3385225" y="3428994"/>
            <a:ext cx="2628900" cy="1821000"/>
          </a:xfrm>
          <a:prstGeom prst="roundRect">
            <a:avLst>
              <a:gd name="adj" fmla="val 523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0" name="Google Shape;290;p20"/>
          <p:cNvSpPr/>
          <p:nvPr/>
        </p:nvSpPr>
        <p:spPr>
          <a:xfrm>
            <a:off x="6166525" y="3428994"/>
            <a:ext cx="2628900" cy="1821000"/>
          </a:xfrm>
          <a:prstGeom prst="roundRect">
            <a:avLst>
              <a:gd name="adj" fmla="val 523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p20"/>
          <p:cNvSpPr/>
          <p:nvPr/>
        </p:nvSpPr>
        <p:spPr>
          <a:xfrm>
            <a:off x="8947825" y="3428994"/>
            <a:ext cx="2628900" cy="1821000"/>
          </a:xfrm>
          <a:prstGeom prst="roundRect">
            <a:avLst>
              <a:gd name="adj" fmla="val 523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2" name="Google Shape;292;p20"/>
          <p:cNvSpPr/>
          <p:nvPr/>
        </p:nvSpPr>
        <p:spPr>
          <a:xfrm>
            <a:off x="2270800" y="3629019"/>
            <a:ext cx="762000" cy="219000"/>
          </a:xfrm>
          <a:prstGeom prst="roundRect">
            <a:avLst>
              <a:gd name="adj" fmla="val 17391"/>
            </a:avLst>
          </a:prstGeom>
          <a:solidFill>
            <a:srgbClr val="EFF6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3" name="Google Shape;293;p20"/>
          <p:cNvSpPr/>
          <p:nvPr/>
        </p:nvSpPr>
        <p:spPr>
          <a:xfrm>
            <a:off x="5128300" y="3629019"/>
            <a:ext cx="685800" cy="219000"/>
          </a:xfrm>
          <a:prstGeom prst="roundRect">
            <a:avLst>
              <a:gd name="adj" fmla="val 17391"/>
            </a:avLst>
          </a:prstGeom>
          <a:solidFill>
            <a:srgbClr val="F0F9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4" name="Google Shape;294;p20"/>
          <p:cNvSpPr/>
          <p:nvPr/>
        </p:nvSpPr>
        <p:spPr>
          <a:xfrm>
            <a:off x="7909600" y="3629019"/>
            <a:ext cx="685800" cy="219000"/>
          </a:xfrm>
          <a:prstGeom prst="roundRect">
            <a:avLst>
              <a:gd name="adj" fmla="val 17391"/>
            </a:avLst>
          </a:prstGeom>
          <a:solidFill>
            <a:srgbClr val="FFFB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5" name="Google Shape;295;p20"/>
          <p:cNvSpPr/>
          <p:nvPr/>
        </p:nvSpPr>
        <p:spPr>
          <a:xfrm>
            <a:off x="10690900" y="3629019"/>
            <a:ext cx="685800" cy="219000"/>
          </a:xfrm>
          <a:prstGeom prst="roundRect">
            <a:avLst>
              <a:gd name="adj" fmla="val 17391"/>
            </a:avLst>
          </a:prstGeom>
          <a:solidFill>
            <a:srgbClr val="FE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6" name="Google Shape;296;p20"/>
          <p:cNvSpPr txBox="1"/>
          <p:nvPr/>
        </p:nvSpPr>
        <p:spPr>
          <a:xfrm>
            <a:off x="609600" y="4572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Plus Jakarta Sans"/>
                <a:ea typeface="Plus Jakarta Sans"/>
                <a:cs typeface="Plus Jakarta Sans"/>
                <a:sym typeface="Plus Jakarta Sans"/>
              </a:rPr>
              <a:t>SPATIAL MACHINE LEARNING</a:t>
            </a:r>
            <a:endParaRPr/>
          </a:p>
        </p:txBody>
      </p:sp>
      <p:sp>
        <p:nvSpPr>
          <p:cNvPr id="297" name="Google Shape;297;p20"/>
          <p:cNvSpPr txBox="1"/>
          <p:nvPr/>
        </p:nvSpPr>
        <p:spPr>
          <a:xfrm>
            <a:off x="609600" y="920250"/>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Plus Jakarta Sans"/>
                <a:ea typeface="Plus Jakarta Sans"/>
                <a:cs typeface="Plus Jakarta Sans"/>
                <a:sym typeface="Plus Jakarta Sans"/>
              </a:rPr>
              <a:t>Week 6: Unsupervised Clustering (k = 4)</a:t>
            </a:r>
            <a:endParaRPr/>
          </a:p>
        </p:txBody>
      </p:sp>
      <p:sp>
        <p:nvSpPr>
          <p:cNvPr id="298" name="Google Shape;298;p20"/>
          <p:cNvSpPr txBox="1"/>
          <p:nvPr/>
        </p:nvSpPr>
        <p:spPr>
          <a:xfrm>
            <a:off x="809625" y="2316475"/>
            <a:ext cx="5086500" cy="415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4C0519"/>
                </a:solidFill>
                <a:latin typeface="Plus Jakarta Sans"/>
                <a:ea typeface="Plus Jakarta Sans"/>
                <a:cs typeface="Plus Jakarta Sans"/>
                <a:sym typeface="Plus Jakarta Sans"/>
              </a:rPr>
              <a:t>Mathematically peaked but practically failed by isolating an administrative Houston PO Box (77225) into a useless n=1 cluster.</a:t>
            </a:r>
            <a:endParaRPr/>
          </a:p>
        </p:txBody>
      </p:sp>
      <p:sp>
        <p:nvSpPr>
          <p:cNvPr id="299" name="Google Shape;299;p20"/>
          <p:cNvSpPr txBox="1"/>
          <p:nvPr/>
        </p:nvSpPr>
        <p:spPr>
          <a:xfrm>
            <a:off x="6391275" y="2316475"/>
            <a:ext cx="5086500" cy="415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14532D"/>
                </a:solidFill>
                <a:latin typeface="Plus Jakarta Sans"/>
                <a:ea typeface="Plus Jakarta Sans"/>
                <a:cs typeface="Plus Jakarta Sans"/>
                <a:sym typeface="Plus Jakarta Sans"/>
              </a:rPr>
              <a:t>Deployed k=4 to produce robust, highly separated regional archetypes across the entire tri-county study area.</a:t>
            </a:r>
            <a:endParaRPr/>
          </a:p>
        </p:txBody>
      </p:sp>
      <p:sp>
        <p:nvSpPr>
          <p:cNvPr id="300" name="Google Shape;300;p20"/>
          <p:cNvSpPr txBox="1"/>
          <p:nvPr/>
        </p:nvSpPr>
        <p:spPr>
          <a:xfrm>
            <a:off x="803950" y="3924294"/>
            <a:ext cx="244020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0F172A"/>
                </a:solidFill>
                <a:latin typeface="Plus Jakarta Sans"/>
                <a:ea typeface="Plus Jakarta Sans"/>
                <a:cs typeface="Plus Jakarta Sans"/>
                <a:sym typeface="Plus Jakarta Sans"/>
              </a:rPr>
              <a:t>Urban Core / Municipal Stable</a:t>
            </a:r>
            <a:endParaRPr/>
          </a:p>
        </p:txBody>
      </p:sp>
      <p:sp>
        <p:nvSpPr>
          <p:cNvPr id="301" name="Google Shape;301;p20"/>
          <p:cNvSpPr txBox="1"/>
          <p:nvPr/>
        </p:nvSpPr>
        <p:spPr>
          <a:xfrm>
            <a:off x="803950" y="4449955"/>
            <a:ext cx="2324100" cy="657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Established municipal utility grid with baseline non-mortgage living costs.</a:t>
            </a:r>
            <a:endParaRPr/>
          </a:p>
        </p:txBody>
      </p:sp>
      <p:sp>
        <p:nvSpPr>
          <p:cNvPr id="302" name="Google Shape;302;p20"/>
          <p:cNvSpPr txBox="1"/>
          <p:nvPr/>
        </p:nvSpPr>
        <p:spPr>
          <a:xfrm>
            <a:off x="3585250" y="3924294"/>
            <a:ext cx="244020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0F172A"/>
                </a:solidFill>
                <a:latin typeface="Plus Jakarta Sans"/>
                <a:ea typeface="Plus Jakarta Sans"/>
                <a:cs typeface="Plus Jakarta Sans"/>
                <a:sym typeface="Plus Jakarta Sans"/>
              </a:rPr>
              <a:t>Galveston Mainland / Corridor</a:t>
            </a:r>
            <a:endParaRPr/>
          </a:p>
        </p:txBody>
      </p:sp>
      <p:sp>
        <p:nvSpPr>
          <p:cNvPr id="303" name="Google Shape;303;p20"/>
          <p:cNvSpPr txBox="1"/>
          <p:nvPr/>
        </p:nvSpPr>
        <p:spPr>
          <a:xfrm>
            <a:off x="3585250" y="4449955"/>
            <a:ext cx="2324100" cy="657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Elevated transmission tariffs and transitional coastal weather risk factors.</a:t>
            </a:r>
            <a:endParaRPr/>
          </a:p>
        </p:txBody>
      </p:sp>
      <p:sp>
        <p:nvSpPr>
          <p:cNvPr id="304" name="Google Shape;304;p20"/>
          <p:cNvSpPr txBox="1"/>
          <p:nvPr/>
        </p:nvSpPr>
        <p:spPr>
          <a:xfrm>
            <a:off x="6366550" y="3924294"/>
            <a:ext cx="244020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0F172A"/>
                </a:solidFill>
                <a:latin typeface="Plus Jakarta Sans"/>
                <a:ea typeface="Plus Jakarta Sans"/>
                <a:cs typeface="Plus Jakarta Sans"/>
                <a:sym typeface="Plus Jakarta Sans"/>
              </a:rPr>
              <a:t>Suburban MUD Growth Corridor</a:t>
            </a:r>
            <a:endParaRPr/>
          </a:p>
        </p:txBody>
      </p:sp>
      <p:sp>
        <p:nvSpPr>
          <p:cNvPr id="305" name="Google Shape;305;p20"/>
          <p:cNvSpPr txBox="1"/>
          <p:nvPr/>
        </p:nvSpPr>
        <p:spPr>
          <a:xfrm>
            <a:off x="6366550" y="4449955"/>
            <a:ext cx="2324100" cy="657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Significant water district fee premiums funding decentralized infrastructure.</a:t>
            </a:r>
            <a:endParaRPr/>
          </a:p>
        </p:txBody>
      </p:sp>
      <p:sp>
        <p:nvSpPr>
          <p:cNvPr id="306" name="Google Shape;306;p20"/>
          <p:cNvSpPr txBox="1"/>
          <p:nvPr/>
        </p:nvSpPr>
        <p:spPr>
          <a:xfrm>
            <a:off x="9147850" y="3924294"/>
            <a:ext cx="244020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0F172A"/>
                </a:solidFill>
                <a:latin typeface="Plus Jakarta Sans"/>
                <a:ea typeface="Plus Jakarta Sans"/>
                <a:cs typeface="Plus Jakarta Sans"/>
                <a:sym typeface="Plus Jakarta Sans"/>
              </a:rPr>
              <a:t>High-Hazard Coastal Surge Zone</a:t>
            </a:r>
            <a:endParaRPr/>
          </a:p>
        </p:txBody>
      </p:sp>
      <p:sp>
        <p:nvSpPr>
          <p:cNvPr id="307" name="Google Shape;307;p20"/>
          <p:cNvSpPr txBox="1"/>
          <p:nvPr/>
        </p:nvSpPr>
        <p:spPr>
          <a:xfrm>
            <a:off x="9147850" y="4449955"/>
            <a:ext cx="2324100" cy="657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Maximum NFIP claim density coupled with statutory TWIA windstorm mandates.</a:t>
            </a:r>
            <a:endParaRPr/>
          </a:p>
        </p:txBody>
      </p:sp>
      <p:sp>
        <p:nvSpPr>
          <p:cNvPr id="308" name="Google Shape;308;p20"/>
          <p:cNvSpPr txBox="1"/>
          <p:nvPr/>
        </p:nvSpPr>
        <p:spPr>
          <a:xfrm>
            <a:off x="809625" y="2078350"/>
            <a:ext cx="28128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9F1239"/>
                </a:solidFill>
                <a:latin typeface="Plus Jakarta Sans"/>
                <a:ea typeface="Plus Jakarta Sans"/>
                <a:cs typeface="Plus Jakarta Sans"/>
                <a:sym typeface="Plus Jakarta Sans"/>
              </a:rPr>
              <a:t>The Singleton Anomaly (k = 5)</a:t>
            </a:r>
            <a:endParaRPr/>
          </a:p>
        </p:txBody>
      </p:sp>
      <p:sp>
        <p:nvSpPr>
          <p:cNvPr id="309" name="Google Shape;309;p20"/>
          <p:cNvSpPr txBox="1"/>
          <p:nvPr/>
        </p:nvSpPr>
        <p:spPr>
          <a:xfrm>
            <a:off x="4429125" y="2092637"/>
            <a:ext cx="17145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E11D48"/>
                </a:solidFill>
                <a:latin typeface="JetBrains Mono"/>
                <a:ea typeface="JetBrains Mono"/>
                <a:cs typeface="JetBrains Mono"/>
                <a:sym typeface="JetBrains Mono"/>
              </a:rPr>
              <a:t>Silhouette: 0.6698</a:t>
            </a:r>
            <a:endParaRPr/>
          </a:p>
        </p:txBody>
      </p:sp>
      <p:sp>
        <p:nvSpPr>
          <p:cNvPr id="310" name="Google Shape;310;p20"/>
          <p:cNvSpPr txBox="1"/>
          <p:nvPr/>
        </p:nvSpPr>
        <p:spPr>
          <a:xfrm>
            <a:off x="6391275" y="2078350"/>
            <a:ext cx="2650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66534"/>
                </a:solidFill>
                <a:latin typeface="Plus Jakarta Sans"/>
                <a:ea typeface="Plus Jakarta Sans"/>
                <a:cs typeface="Plus Jakarta Sans"/>
                <a:sym typeface="Plus Jakarta Sans"/>
              </a:rPr>
              <a:t>The Optimal Solution (k = 4)</a:t>
            </a:r>
            <a:endParaRPr/>
          </a:p>
        </p:txBody>
      </p:sp>
      <p:sp>
        <p:nvSpPr>
          <p:cNvPr id="311" name="Google Shape;311;p20"/>
          <p:cNvSpPr txBox="1"/>
          <p:nvPr/>
        </p:nvSpPr>
        <p:spPr>
          <a:xfrm>
            <a:off x="10010775" y="2092637"/>
            <a:ext cx="17145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6A34A"/>
                </a:solidFill>
                <a:latin typeface="JetBrains Mono"/>
                <a:ea typeface="JetBrains Mono"/>
                <a:cs typeface="JetBrains Mono"/>
                <a:sym typeface="JetBrains Mono"/>
              </a:rPr>
              <a:t>Silhouette: 0.6670</a:t>
            </a:r>
            <a:endParaRPr/>
          </a:p>
        </p:txBody>
      </p:sp>
      <p:sp>
        <p:nvSpPr>
          <p:cNvPr id="312" name="Google Shape;312;p20"/>
          <p:cNvSpPr txBox="1"/>
          <p:nvPr/>
        </p:nvSpPr>
        <p:spPr>
          <a:xfrm>
            <a:off x="803950" y="3662357"/>
            <a:ext cx="942900" cy="1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2563EB"/>
                </a:solidFill>
                <a:latin typeface="Plus Jakarta Sans"/>
                <a:ea typeface="Plus Jakarta Sans"/>
                <a:cs typeface="Plus Jakarta Sans"/>
                <a:sym typeface="Plus Jakarta Sans"/>
              </a:rPr>
              <a:t>CLUSTER 0</a:t>
            </a:r>
            <a:endParaRPr/>
          </a:p>
        </p:txBody>
      </p:sp>
      <p:sp>
        <p:nvSpPr>
          <p:cNvPr id="313" name="Google Shape;313;p20"/>
          <p:cNvSpPr txBox="1"/>
          <p:nvPr/>
        </p:nvSpPr>
        <p:spPr>
          <a:xfrm>
            <a:off x="2347000" y="3657594"/>
            <a:ext cx="705000" cy="1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2563EB"/>
                </a:solidFill>
                <a:latin typeface="JetBrains Mono"/>
                <a:ea typeface="JetBrains Mono"/>
                <a:cs typeface="JetBrains Mono"/>
                <a:sym typeface="JetBrains Mono"/>
              </a:rPr>
              <a:t>193 ZIPs</a:t>
            </a:r>
            <a:endParaRPr/>
          </a:p>
        </p:txBody>
      </p:sp>
      <p:sp>
        <p:nvSpPr>
          <p:cNvPr id="314" name="Google Shape;314;p20"/>
          <p:cNvSpPr txBox="1"/>
          <p:nvPr/>
        </p:nvSpPr>
        <p:spPr>
          <a:xfrm>
            <a:off x="3585250" y="3662357"/>
            <a:ext cx="904800" cy="1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284C7"/>
                </a:solidFill>
                <a:latin typeface="Plus Jakarta Sans"/>
                <a:ea typeface="Plus Jakarta Sans"/>
                <a:cs typeface="Plus Jakarta Sans"/>
                <a:sym typeface="Plus Jakarta Sans"/>
              </a:rPr>
              <a:t>CLUSTER 1</a:t>
            </a:r>
            <a:endParaRPr/>
          </a:p>
        </p:txBody>
      </p:sp>
      <p:sp>
        <p:nvSpPr>
          <p:cNvPr id="315" name="Google Shape;315;p20"/>
          <p:cNvSpPr txBox="1"/>
          <p:nvPr/>
        </p:nvSpPr>
        <p:spPr>
          <a:xfrm>
            <a:off x="5204500" y="3657594"/>
            <a:ext cx="628800" cy="1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284C7"/>
                </a:solidFill>
                <a:latin typeface="JetBrains Mono"/>
                <a:ea typeface="JetBrains Mono"/>
                <a:cs typeface="JetBrains Mono"/>
                <a:sym typeface="JetBrains Mono"/>
              </a:rPr>
              <a:t>14 ZIPs</a:t>
            </a:r>
            <a:endParaRPr/>
          </a:p>
        </p:txBody>
      </p:sp>
      <p:sp>
        <p:nvSpPr>
          <p:cNvPr id="316" name="Google Shape;316;p20"/>
          <p:cNvSpPr txBox="1"/>
          <p:nvPr/>
        </p:nvSpPr>
        <p:spPr>
          <a:xfrm>
            <a:off x="6366550" y="3662357"/>
            <a:ext cx="933600" cy="1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D97706"/>
                </a:solidFill>
                <a:latin typeface="Plus Jakarta Sans"/>
                <a:ea typeface="Plus Jakarta Sans"/>
                <a:cs typeface="Plus Jakarta Sans"/>
                <a:sym typeface="Plus Jakarta Sans"/>
              </a:rPr>
              <a:t>CLUSTER 2</a:t>
            </a:r>
            <a:endParaRPr/>
          </a:p>
        </p:txBody>
      </p:sp>
      <p:sp>
        <p:nvSpPr>
          <p:cNvPr id="317" name="Google Shape;317;p20"/>
          <p:cNvSpPr txBox="1"/>
          <p:nvPr/>
        </p:nvSpPr>
        <p:spPr>
          <a:xfrm>
            <a:off x="7985800" y="3657594"/>
            <a:ext cx="628800" cy="1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D97706"/>
                </a:solidFill>
                <a:latin typeface="JetBrains Mono"/>
                <a:ea typeface="JetBrains Mono"/>
                <a:cs typeface="JetBrains Mono"/>
                <a:sym typeface="JetBrains Mono"/>
              </a:rPr>
              <a:t>59 ZIPs</a:t>
            </a:r>
            <a:endParaRPr/>
          </a:p>
        </p:txBody>
      </p:sp>
      <p:sp>
        <p:nvSpPr>
          <p:cNvPr id="318" name="Google Shape;318;p20"/>
          <p:cNvSpPr txBox="1"/>
          <p:nvPr/>
        </p:nvSpPr>
        <p:spPr>
          <a:xfrm>
            <a:off x="9147850" y="3662357"/>
            <a:ext cx="933600" cy="1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DC2626"/>
                </a:solidFill>
                <a:latin typeface="Plus Jakarta Sans"/>
                <a:ea typeface="Plus Jakarta Sans"/>
                <a:cs typeface="Plus Jakarta Sans"/>
                <a:sym typeface="Plus Jakarta Sans"/>
              </a:rPr>
              <a:t>CLUSTER 3</a:t>
            </a:r>
            <a:endParaRPr/>
          </a:p>
        </p:txBody>
      </p:sp>
      <p:sp>
        <p:nvSpPr>
          <p:cNvPr id="319" name="Google Shape;319;p20"/>
          <p:cNvSpPr txBox="1"/>
          <p:nvPr/>
        </p:nvSpPr>
        <p:spPr>
          <a:xfrm>
            <a:off x="10767100" y="3657594"/>
            <a:ext cx="628800" cy="1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DC2626"/>
                </a:solidFill>
                <a:latin typeface="JetBrains Mono"/>
                <a:ea typeface="JetBrains Mono"/>
                <a:cs typeface="JetBrains Mono"/>
                <a:sym typeface="JetBrains Mono"/>
              </a:rPr>
              <a:t>13 ZIPs</a:t>
            </a:r>
            <a:endParaRPr/>
          </a:p>
        </p:txBody>
      </p:sp>
      <p:sp>
        <p:nvSpPr>
          <p:cNvPr id="320" name="Google Shape;320;p20"/>
          <p:cNvSpPr/>
          <p:nvPr/>
        </p:nvSpPr>
        <p:spPr>
          <a:xfrm>
            <a:off x="609600" y="5697925"/>
            <a:ext cx="10972800" cy="831300"/>
          </a:xfrm>
          <a:prstGeom prst="roundRect">
            <a:avLst>
              <a:gd name="adj" fmla="val 4242"/>
            </a:avLst>
          </a:prstGeom>
          <a:solidFill>
            <a:schemeClr val="lt1"/>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20"/>
          <p:cNvSpPr txBox="1"/>
          <p:nvPr/>
        </p:nvSpPr>
        <p:spPr>
          <a:xfrm>
            <a:off x="811725" y="5821750"/>
            <a:ext cx="10456200" cy="6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434343"/>
                </a:solidFill>
              </a:rPr>
              <a:t>What this means:</a:t>
            </a:r>
            <a:r>
              <a:rPr lang="en-US">
                <a:solidFill>
                  <a:srgbClr val="434343"/>
                </a:solidFill>
              </a:rPr>
              <a:t> Machine learning successfully grouped Greater Houston into 4 real-world expense profiles—from predictable urban centers to high-cost coastal zones.</a:t>
            </a:r>
            <a:endParaRPr sz="3500">
              <a:solidFill>
                <a:srgbClr val="434343"/>
              </a:solidFill>
              <a:latin typeface="Calibri"/>
              <a:ea typeface="Calibri"/>
              <a:cs typeface="Calibri"/>
              <a:sym typeface="Calibri"/>
            </a:endParaRPr>
          </a:p>
        </p:txBody>
      </p:sp>
      <p:sp>
        <p:nvSpPr>
          <p:cNvPr id="323" name="Google Shape;323;p20"/>
          <p:cNvSpPr txBox="1"/>
          <p:nvPr/>
        </p:nvSpPr>
        <p:spPr>
          <a:xfrm>
            <a:off x="10255290" y="346170"/>
            <a:ext cx="14463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 Jonah J</a:t>
            </a:r>
            <a:endParaRPr sz="1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18E1-F182-1ADE-7DA3-A0C135622E8C}"/>
              </a:ext>
            </a:extLst>
          </p:cNvPr>
          <p:cNvSpPr>
            <a:spLocks noGrp="1"/>
          </p:cNvSpPr>
          <p:nvPr>
            <p:ph type="ctrTitle"/>
          </p:nvPr>
        </p:nvSpPr>
        <p:spPr>
          <a:xfrm>
            <a:off x="612355" y="826763"/>
            <a:ext cx="5963798" cy="460145"/>
          </a:xfrm>
        </p:spPr>
        <p:txBody>
          <a:bodyPr>
            <a:noAutofit/>
          </a:bodyPr>
          <a:lstStyle/>
          <a:p>
            <a:pPr algn="l"/>
            <a:r>
              <a:rPr lang="en-US" sz="2550" b="1" dirty="0">
                <a:latin typeface="Plus Jakarta Sans"/>
                <a:cs typeface="Plus Jakarta Sans"/>
              </a:rPr>
              <a:t>Table 1: Regional Cluster Archetypes</a:t>
            </a:r>
            <a:endParaRPr lang="en-US"/>
          </a:p>
        </p:txBody>
      </p:sp>
      <p:graphicFrame>
        <p:nvGraphicFramePr>
          <p:cNvPr id="5" name="Table 4">
            <a:extLst>
              <a:ext uri="{FF2B5EF4-FFF2-40B4-BE49-F238E27FC236}">
                <a16:creationId xmlns:a16="http://schemas.microsoft.com/office/drawing/2014/main" id="{3620DA77-2972-77F6-6601-D48DEF2556B5}"/>
              </a:ext>
            </a:extLst>
          </p:cNvPr>
          <p:cNvGraphicFramePr>
            <a:graphicFrameLocks noGrp="1"/>
          </p:cNvGraphicFramePr>
          <p:nvPr>
            <p:extLst>
              <p:ext uri="{D42A27DB-BD31-4B8C-83A1-F6EECF244321}">
                <p14:modId xmlns:p14="http://schemas.microsoft.com/office/powerpoint/2010/main" val="1742744692"/>
              </p:ext>
            </p:extLst>
          </p:nvPr>
        </p:nvGraphicFramePr>
        <p:xfrm>
          <a:off x="596747" y="2451253"/>
          <a:ext cx="10991908" cy="4202186"/>
        </p:xfrm>
        <a:graphic>
          <a:graphicData uri="http://schemas.openxmlformats.org/drawingml/2006/table">
            <a:tbl>
              <a:tblPr bandRow="1">
                <a:tableStyleId>{5C22544A-7EE6-4342-B048-85BDC9FD1C3A}</a:tableStyleId>
              </a:tblPr>
              <a:tblGrid>
                <a:gridCol w="1831985">
                  <a:extLst>
                    <a:ext uri="{9D8B030D-6E8A-4147-A177-3AD203B41FA5}">
                      <a16:colId xmlns:a16="http://schemas.microsoft.com/office/drawing/2014/main" val="1380579545"/>
                    </a:ext>
                  </a:extLst>
                </a:gridCol>
                <a:gridCol w="1122880">
                  <a:extLst>
                    <a:ext uri="{9D8B030D-6E8A-4147-A177-3AD203B41FA5}">
                      <a16:colId xmlns:a16="http://schemas.microsoft.com/office/drawing/2014/main" val="471196816"/>
                    </a:ext>
                  </a:extLst>
                </a:gridCol>
                <a:gridCol w="2541088">
                  <a:extLst>
                    <a:ext uri="{9D8B030D-6E8A-4147-A177-3AD203B41FA5}">
                      <a16:colId xmlns:a16="http://schemas.microsoft.com/office/drawing/2014/main" val="2503262819"/>
                    </a:ext>
                  </a:extLst>
                </a:gridCol>
                <a:gridCol w="1831985">
                  <a:extLst>
                    <a:ext uri="{9D8B030D-6E8A-4147-A177-3AD203B41FA5}">
                      <a16:colId xmlns:a16="http://schemas.microsoft.com/office/drawing/2014/main" val="3013718753"/>
                    </a:ext>
                  </a:extLst>
                </a:gridCol>
                <a:gridCol w="1831985">
                  <a:extLst>
                    <a:ext uri="{9D8B030D-6E8A-4147-A177-3AD203B41FA5}">
                      <a16:colId xmlns:a16="http://schemas.microsoft.com/office/drawing/2014/main" val="3240834990"/>
                    </a:ext>
                  </a:extLst>
                </a:gridCol>
                <a:gridCol w="1831985">
                  <a:extLst>
                    <a:ext uri="{9D8B030D-6E8A-4147-A177-3AD203B41FA5}">
                      <a16:colId xmlns:a16="http://schemas.microsoft.com/office/drawing/2014/main" val="1322333785"/>
                    </a:ext>
                  </a:extLst>
                </a:gridCol>
              </a:tblGrid>
              <a:tr h="782760">
                <a:tc>
                  <a:txBody>
                    <a:bodyPr/>
                    <a:lstStyle/>
                    <a:p>
                      <a:pPr marL="0" marR="0" rtl="0">
                        <a:spcAft>
                          <a:spcPts val="2400"/>
                        </a:spcAft>
                        <a:buNone/>
                      </a:pPr>
                      <a:r>
                        <a:rPr lang="en-US" dirty="0">
                          <a:solidFill>
                            <a:srgbClr val="1F1F1F"/>
                          </a:solidFill>
                          <a:effectLst/>
                        </a:rPr>
                        <a:t>Cluster Archetype Name</a:t>
                      </a:r>
                    </a:p>
                  </a:txBody>
                  <a:tcPr marL="114300" marR="114300" marT="76200" marB="76200" anchor="ctr">
                    <a:solidFill>
                      <a:schemeClr val="accent1">
                        <a:lumMod val="60000"/>
                        <a:lumOff val="40000"/>
                      </a:schemeClr>
                    </a:solidFill>
                  </a:tcPr>
                </a:tc>
                <a:tc>
                  <a:txBody>
                    <a:bodyPr/>
                    <a:lstStyle/>
                    <a:p>
                      <a:pPr marL="0" marR="0" rtl="0">
                        <a:spcAft>
                          <a:spcPts val="2400"/>
                        </a:spcAft>
                        <a:buNone/>
                      </a:pPr>
                      <a:r>
                        <a:rPr lang="en-US" dirty="0">
                          <a:solidFill>
                            <a:srgbClr val="1F1F1F"/>
                          </a:solidFill>
                          <a:effectLst/>
                        </a:rPr>
                        <a:t>ZIP Count</a:t>
                      </a:r>
                    </a:p>
                  </a:txBody>
                  <a:tcPr marL="114300" marR="114300" marT="76200" marB="76200" anchor="ctr">
                    <a:solidFill>
                      <a:schemeClr val="accent1">
                        <a:lumMod val="60000"/>
                        <a:lumOff val="40000"/>
                      </a:schemeClr>
                    </a:solidFill>
                  </a:tcPr>
                </a:tc>
                <a:tc>
                  <a:txBody>
                    <a:bodyPr/>
                    <a:lstStyle/>
                    <a:p>
                      <a:pPr marL="0" marR="0" rtl="0">
                        <a:spcAft>
                          <a:spcPts val="2400"/>
                        </a:spcAft>
                        <a:buNone/>
                      </a:pPr>
                      <a:r>
                        <a:rPr lang="en-US" dirty="0">
                          <a:solidFill>
                            <a:srgbClr val="1F1F1F"/>
                          </a:solidFill>
                          <a:effectLst/>
                        </a:rPr>
                        <a:t>Geographic Footprint</a:t>
                      </a:r>
                    </a:p>
                  </a:txBody>
                  <a:tcPr marL="114300" marR="114300" marT="76200" marB="76200" anchor="ctr">
                    <a:solidFill>
                      <a:schemeClr val="accent1">
                        <a:lumMod val="60000"/>
                        <a:lumOff val="40000"/>
                      </a:schemeClr>
                    </a:solidFill>
                  </a:tcPr>
                </a:tc>
                <a:tc>
                  <a:txBody>
                    <a:bodyPr/>
                    <a:lstStyle/>
                    <a:p>
                      <a:pPr marL="0" marR="0" rtl="0">
                        <a:spcAft>
                          <a:spcPts val="2400"/>
                        </a:spcAft>
                        <a:buNone/>
                      </a:pPr>
                      <a:r>
                        <a:rPr lang="en-US" dirty="0">
                          <a:solidFill>
                            <a:srgbClr val="1F1F1F"/>
                          </a:solidFill>
                          <a:effectLst/>
                        </a:rPr>
                        <a:t>100-Yr Flood Exposure</a:t>
                      </a:r>
                    </a:p>
                  </a:txBody>
                  <a:tcPr marL="114300" marR="114300" marT="76200" marB="76200" anchor="ctr">
                    <a:solidFill>
                      <a:schemeClr val="accent1">
                        <a:lumMod val="60000"/>
                        <a:lumOff val="40000"/>
                      </a:schemeClr>
                    </a:solidFill>
                  </a:tcPr>
                </a:tc>
                <a:tc>
                  <a:txBody>
                    <a:bodyPr/>
                    <a:lstStyle/>
                    <a:p>
                      <a:pPr marL="0" marR="0" rtl="0">
                        <a:spcAft>
                          <a:spcPts val="2400"/>
                        </a:spcAft>
                        <a:buNone/>
                      </a:pPr>
                      <a:r>
                        <a:rPr lang="en-US" dirty="0">
                          <a:solidFill>
                            <a:srgbClr val="1F1F1F"/>
                          </a:solidFill>
                          <a:effectLst/>
                        </a:rPr>
                        <a:t>MUD / Governance Drivers</a:t>
                      </a:r>
                    </a:p>
                  </a:txBody>
                  <a:tcPr marL="114300" marR="114300" marT="76200" marB="76200" anchor="ctr">
                    <a:solidFill>
                      <a:schemeClr val="accent1">
                        <a:lumMod val="60000"/>
                        <a:lumOff val="40000"/>
                      </a:schemeClr>
                    </a:solidFill>
                  </a:tcPr>
                </a:tc>
                <a:tc>
                  <a:txBody>
                    <a:bodyPr/>
                    <a:lstStyle/>
                    <a:p>
                      <a:pPr marL="0" marR="0" rtl="0">
                        <a:spcAft>
                          <a:spcPts val="2400"/>
                        </a:spcAft>
                        <a:buNone/>
                      </a:pPr>
                      <a:r>
                        <a:rPr lang="en-US" dirty="0">
                          <a:solidFill>
                            <a:srgbClr val="1F1F1F"/>
                          </a:solidFill>
                          <a:effectLst/>
                        </a:rPr>
                        <a:t>Financial Impact</a:t>
                      </a:r>
                    </a:p>
                  </a:txBody>
                  <a:tcPr marL="114300" marR="114300" marT="76200" marB="76200" anchor="ctr">
                    <a:solidFill>
                      <a:schemeClr val="accent1">
                        <a:lumMod val="60000"/>
                        <a:lumOff val="40000"/>
                      </a:schemeClr>
                    </a:solidFill>
                  </a:tcPr>
                </a:tc>
                <a:extLst>
                  <a:ext uri="{0D108BD9-81ED-4DB2-BD59-A6C34878D82A}">
                    <a16:rowId xmlns:a16="http://schemas.microsoft.com/office/drawing/2014/main" val="2870409430"/>
                  </a:ext>
                </a:extLst>
              </a:tr>
              <a:tr h="782760">
                <a:tc>
                  <a:txBody>
                    <a:bodyPr/>
                    <a:lstStyle/>
                    <a:p>
                      <a:pPr marL="0" marR="0" rtl="0">
                        <a:spcAft>
                          <a:spcPts val="2400"/>
                        </a:spcAft>
                        <a:buNone/>
                      </a:pPr>
                      <a:r>
                        <a:rPr lang="en-US" dirty="0">
                          <a:solidFill>
                            <a:srgbClr val="1F1F1F"/>
                          </a:solidFill>
                          <a:effectLst/>
                        </a:rPr>
                        <a:t>Urban Core / Municipal Stable</a:t>
                      </a:r>
                    </a:p>
                  </a:txBody>
                  <a:tcPr marL="114300" marR="114300" marT="76200" marB="76200" anchor="ctr"/>
                </a:tc>
                <a:tc>
                  <a:txBody>
                    <a:bodyPr/>
                    <a:lstStyle/>
                    <a:p>
                      <a:pPr marL="0" marR="0" rtl="0">
                        <a:spcAft>
                          <a:spcPts val="2400"/>
                        </a:spcAft>
                        <a:buNone/>
                      </a:pPr>
                      <a:r>
                        <a:rPr lang="en-US" dirty="0">
                          <a:solidFill>
                            <a:srgbClr val="1F1F1F"/>
                          </a:solidFill>
                          <a:effectLst/>
                        </a:rPr>
                        <a:t>193</a:t>
                      </a:r>
                    </a:p>
                  </a:txBody>
                  <a:tcPr marL="114300" marR="114300" marT="76200" marB="76200" anchor="ctr"/>
                </a:tc>
                <a:tc>
                  <a:txBody>
                    <a:bodyPr/>
                    <a:lstStyle/>
                    <a:p>
                      <a:pPr marL="0" marR="0" rtl="0">
                        <a:spcAft>
                          <a:spcPts val="2400"/>
                        </a:spcAft>
                        <a:buNone/>
                      </a:pPr>
                      <a:r>
                        <a:rPr lang="en-US" dirty="0">
                          <a:solidFill>
                            <a:srgbClr val="1F1F1F"/>
                          </a:solidFill>
                          <a:effectLst/>
                        </a:rPr>
                        <a:t>Infill &amp; municipal Houston</a:t>
                      </a:r>
                    </a:p>
                  </a:txBody>
                  <a:tcPr marL="114300" marR="114300" marT="76200" marB="76200" anchor="ctr"/>
                </a:tc>
                <a:tc>
                  <a:txBody>
                    <a:bodyPr/>
                    <a:lstStyle/>
                    <a:p>
                      <a:pPr marL="0" marR="0" rtl="0">
                        <a:spcAft>
                          <a:spcPts val="2400"/>
                        </a:spcAft>
                        <a:buNone/>
                      </a:pPr>
                      <a:r>
                        <a:rPr lang="en-US" dirty="0">
                          <a:solidFill>
                            <a:srgbClr val="1F1F1F"/>
                          </a:solidFill>
                          <a:effectLst/>
                        </a:rPr>
                        <a:t>Baseline (~1.0%)</a:t>
                      </a:r>
                    </a:p>
                  </a:txBody>
                  <a:tcPr marL="114300" marR="114300" marT="76200" marB="76200" anchor="ctr"/>
                </a:tc>
                <a:tc>
                  <a:txBody>
                    <a:bodyPr/>
                    <a:lstStyle/>
                    <a:p>
                      <a:pPr marL="0" marR="0" rtl="0">
                        <a:spcAft>
                          <a:spcPts val="2400"/>
                        </a:spcAft>
                        <a:buNone/>
                      </a:pPr>
                      <a:r>
                        <a:rPr lang="en-US" dirty="0">
                          <a:solidFill>
                            <a:srgbClr val="1F1F1F"/>
                          </a:solidFill>
                          <a:effectLst/>
                        </a:rPr>
                        <a:t>City of Houston water rates</a:t>
                      </a:r>
                    </a:p>
                  </a:txBody>
                  <a:tcPr marL="114300" marR="114300" marT="76200" marB="76200" anchor="ctr"/>
                </a:tc>
                <a:tc>
                  <a:txBody>
                    <a:bodyPr/>
                    <a:lstStyle/>
                    <a:p>
                      <a:pPr marL="0" marR="0" rtl="0">
                        <a:spcAft>
                          <a:spcPts val="2400"/>
                        </a:spcAft>
                        <a:buNone/>
                      </a:pPr>
                      <a:r>
                        <a:rPr lang="en-US" dirty="0">
                          <a:solidFill>
                            <a:srgbClr val="1F1F1F"/>
                          </a:solidFill>
                          <a:effectLst/>
                        </a:rPr>
                        <a:t>Standard municipal baseline</a:t>
                      </a:r>
                    </a:p>
                  </a:txBody>
                  <a:tcPr marL="114300" marR="114300" marT="76200" marB="76200" anchor="ctr"/>
                </a:tc>
                <a:extLst>
                  <a:ext uri="{0D108BD9-81ED-4DB2-BD59-A6C34878D82A}">
                    <a16:rowId xmlns:a16="http://schemas.microsoft.com/office/drawing/2014/main" val="42313233"/>
                  </a:ext>
                </a:extLst>
              </a:tr>
              <a:tr h="782760">
                <a:tc>
                  <a:txBody>
                    <a:bodyPr/>
                    <a:lstStyle/>
                    <a:p>
                      <a:pPr marL="0" marR="0" rtl="0">
                        <a:spcAft>
                          <a:spcPts val="2400"/>
                        </a:spcAft>
                        <a:buNone/>
                      </a:pPr>
                      <a:r>
                        <a:rPr lang="en-US" dirty="0">
                          <a:solidFill>
                            <a:srgbClr val="1F1F1F"/>
                          </a:solidFill>
                          <a:effectLst/>
                        </a:rPr>
                        <a:t>Suburban MUD Growth Corridor</a:t>
                      </a:r>
                    </a:p>
                  </a:txBody>
                  <a:tcPr marL="114300" marR="114300" marT="76200" marB="76200" anchor="ctr"/>
                </a:tc>
                <a:tc>
                  <a:txBody>
                    <a:bodyPr/>
                    <a:lstStyle/>
                    <a:p>
                      <a:pPr marL="0" marR="0" rtl="0">
                        <a:spcAft>
                          <a:spcPts val="2400"/>
                        </a:spcAft>
                        <a:buNone/>
                      </a:pPr>
                      <a:r>
                        <a:rPr lang="en-US" dirty="0">
                          <a:solidFill>
                            <a:srgbClr val="1F1F1F"/>
                          </a:solidFill>
                          <a:effectLst/>
                        </a:rPr>
                        <a:t>59</a:t>
                      </a:r>
                    </a:p>
                  </a:txBody>
                  <a:tcPr marL="114300" marR="114300" marT="76200" marB="76200" anchor="ctr"/>
                </a:tc>
                <a:tc>
                  <a:txBody>
                    <a:bodyPr/>
                    <a:lstStyle/>
                    <a:p>
                      <a:pPr marL="0" marR="0" rtl="0">
                        <a:spcAft>
                          <a:spcPts val="2400"/>
                        </a:spcAft>
                        <a:buNone/>
                      </a:pPr>
                      <a:r>
                        <a:rPr lang="en-US" dirty="0">
                          <a:solidFill>
                            <a:srgbClr val="1F1F1F"/>
                          </a:solidFill>
                          <a:effectLst/>
                        </a:rPr>
                        <a:t>Developing outer suburbs</a:t>
                      </a:r>
                    </a:p>
                  </a:txBody>
                  <a:tcPr marL="114300" marR="114300" marT="76200" marB="76200" anchor="ctr"/>
                </a:tc>
                <a:tc>
                  <a:txBody>
                    <a:bodyPr/>
                    <a:lstStyle/>
                    <a:p>
                      <a:pPr marL="0" marR="0" rtl="0">
                        <a:spcAft>
                          <a:spcPts val="2400"/>
                        </a:spcAft>
                        <a:buNone/>
                      </a:pPr>
                      <a:r>
                        <a:rPr lang="en-US" dirty="0">
                          <a:solidFill>
                            <a:srgbClr val="1F1F1F"/>
                          </a:solidFill>
                          <a:effectLst/>
                        </a:rPr>
                        <a:t>Low to moderate</a:t>
                      </a:r>
                    </a:p>
                  </a:txBody>
                  <a:tcPr marL="114300" marR="114300" marT="76200" marB="76200" anchor="ctr"/>
                </a:tc>
                <a:tc>
                  <a:txBody>
                    <a:bodyPr/>
                    <a:lstStyle/>
                    <a:p>
                      <a:pPr marL="0" marR="0" rtl="0">
                        <a:spcAft>
                          <a:spcPts val="2400"/>
                        </a:spcAft>
                        <a:buNone/>
                      </a:pPr>
                      <a:r>
                        <a:rPr lang="en-US" dirty="0">
                          <a:solidFill>
                            <a:srgbClr val="1F1F1F"/>
                          </a:solidFill>
                          <a:effectLst/>
                        </a:rPr>
                        <a:t>High MUD tax &amp; base fee add-ons</a:t>
                      </a:r>
                    </a:p>
                  </a:txBody>
                  <a:tcPr marL="114300" marR="114300" marT="76200" marB="76200" anchor="ctr"/>
                </a:tc>
                <a:tc>
                  <a:txBody>
                    <a:bodyPr/>
                    <a:lstStyle/>
                    <a:p>
                      <a:pPr marL="0" marR="0" rtl="0">
                        <a:spcAft>
                          <a:spcPts val="2400"/>
                        </a:spcAft>
                        <a:buNone/>
                      </a:pPr>
                      <a:r>
                        <a:rPr lang="en-US" dirty="0">
                          <a:solidFill>
                            <a:srgbClr val="1F1F1F"/>
                          </a:solidFill>
                          <a:effectLst/>
                        </a:rPr>
                        <a:t>+$11.70/</a:t>
                      </a:r>
                      <a:r>
                        <a:rPr lang="en-US" dirty="0" err="1">
                          <a:solidFill>
                            <a:srgbClr val="1F1F1F"/>
                          </a:solidFill>
                          <a:effectLst/>
                        </a:rPr>
                        <a:t>mo</a:t>
                      </a:r>
                      <a:r>
                        <a:rPr lang="en-US" dirty="0">
                          <a:solidFill>
                            <a:srgbClr val="1F1F1F"/>
                          </a:solidFill>
                          <a:effectLst/>
                        </a:rPr>
                        <a:t> water fee penalty</a:t>
                      </a:r>
                    </a:p>
                  </a:txBody>
                  <a:tcPr marL="114300" marR="114300" marT="76200" marB="76200" anchor="ctr"/>
                </a:tc>
                <a:extLst>
                  <a:ext uri="{0D108BD9-81ED-4DB2-BD59-A6C34878D82A}">
                    <a16:rowId xmlns:a16="http://schemas.microsoft.com/office/drawing/2014/main" val="1477746744"/>
                  </a:ext>
                </a:extLst>
              </a:tr>
              <a:tr h="782760">
                <a:tc>
                  <a:txBody>
                    <a:bodyPr/>
                    <a:lstStyle/>
                    <a:p>
                      <a:pPr marL="0" marR="0" rtl="0">
                        <a:spcAft>
                          <a:spcPts val="2400"/>
                        </a:spcAft>
                        <a:buNone/>
                      </a:pPr>
                      <a:r>
                        <a:rPr lang="en-US" dirty="0">
                          <a:solidFill>
                            <a:srgbClr val="1F1F1F"/>
                          </a:solidFill>
                          <a:effectLst/>
                        </a:rPr>
                        <a:t>Galveston Mainland / Coastal Utility</a:t>
                      </a:r>
                    </a:p>
                  </a:txBody>
                  <a:tcPr marL="114300" marR="114300" marT="76200" marB="76200" anchor="ctr"/>
                </a:tc>
                <a:tc>
                  <a:txBody>
                    <a:bodyPr/>
                    <a:lstStyle/>
                    <a:p>
                      <a:pPr marL="0" marR="0" rtl="0">
                        <a:spcAft>
                          <a:spcPts val="2400"/>
                        </a:spcAft>
                        <a:buNone/>
                      </a:pPr>
                      <a:r>
                        <a:rPr lang="en-US" dirty="0">
                          <a:solidFill>
                            <a:srgbClr val="1F1F1F"/>
                          </a:solidFill>
                          <a:effectLst/>
                        </a:rPr>
                        <a:t>14</a:t>
                      </a:r>
                    </a:p>
                  </a:txBody>
                  <a:tcPr marL="114300" marR="114300" marT="76200" marB="76200" anchor="ctr"/>
                </a:tc>
                <a:tc>
                  <a:txBody>
                    <a:bodyPr/>
                    <a:lstStyle/>
                    <a:p>
                      <a:pPr marL="0" marR="0" rtl="0">
                        <a:spcAft>
                          <a:spcPts val="2400"/>
                        </a:spcAft>
                        <a:buNone/>
                      </a:pPr>
                      <a:r>
                        <a:rPr lang="en-US" dirty="0">
                          <a:solidFill>
                            <a:srgbClr val="1F1F1F"/>
                          </a:solidFill>
                          <a:effectLst/>
                        </a:rPr>
                        <a:t>Inland coastal plain</a:t>
                      </a:r>
                    </a:p>
                  </a:txBody>
                  <a:tcPr marL="114300" marR="114300" marT="76200" marB="76200" anchor="ctr"/>
                </a:tc>
                <a:tc>
                  <a:txBody>
                    <a:bodyPr/>
                    <a:lstStyle/>
                    <a:p>
                      <a:pPr marL="0" marR="0" rtl="0">
                        <a:spcAft>
                          <a:spcPts val="2400"/>
                        </a:spcAft>
                        <a:buNone/>
                      </a:pPr>
                      <a:r>
                        <a:rPr lang="en-US" dirty="0">
                          <a:solidFill>
                            <a:srgbClr val="1F1F1F"/>
                          </a:solidFill>
                          <a:effectLst/>
                        </a:rPr>
                        <a:t>High flood zone exposure</a:t>
                      </a:r>
                    </a:p>
                  </a:txBody>
                  <a:tcPr marL="114300" marR="114300" marT="76200" marB="76200" anchor="ctr"/>
                </a:tc>
                <a:tc>
                  <a:txBody>
                    <a:bodyPr/>
                    <a:lstStyle/>
                    <a:p>
                      <a:pPr marL="0" marR="0" rtl="0">
                        <a:spcAft>
                          <a:spcPts val="2400"/>
                        </a:spcAft>
                        <a:buNone/>
                      </a:pPr>
                      <a:r>
                        <a:rPr lang="en-US" dirty="0">
                          <a:solidFill>
                            <a:srgbClr val="1F1F1F"/>
                          </a:solidFill>
                          <a:effectLst/>
                        </a:rPr>
                        <a:t>Mixed MUD &amp; private utility rates</a:t>
                      </a:r>
                    </a:p>
                  </a:txBody>
                  <a:tcPr marL="114300" marR="114300" marT="76200" marB="76200" anchor="ctr"/>
                </a:tc>
                <a:tc>
                  <a:txBody>
                    <a:bodyPr/>
                    <a:lstStyle/>
                    <a:p>
                      <a:pPr marL="0" marR="0" rtl="0">
                        <a:spcAft>
                          <a:spcPts val="2400"/>
                        </a:spcAft>
                        <a:buNone/>
                      </a:pPr>
                      <a:r>
                        <a:rPr lang="en-US" dirty="0">
                          <a:solidFill>
                            <a:srgbClr val="1F1F1F"/>
                          </a:solidFill>
                          <a:effectLst/>
                        </a:rPr>
                        <a:t>Elevated baseline risk</a:t>
                      </a:r>
                    </a:p>
                  </a:txBody>
                  <a:tcPr marL="114300" marR="114300" marT="76200" marB="76200" anchor="ctr"/>
                </a:tc>
                <a:extLst>
                  <a:ext uri="{0D108BD9-81ED-4DB2-BD59-A6C34878D82A}">
                    <a16:rowId xmlns:a16="http://schemas.microsoft.com/office/drawing/2014/main" val="3380133889"/>
                  </a:ext>
                </a:extLst>
              </a:tr>
              <a:tr h="1071146">
                <a:tc>
                  <a:txBody>
                    <a:bodyPr/>
                    <a:lstStyle/>
                    <a:p>
                      <a:pPr marL="0" marR="0" rtl="0">
                        <a:spcAft>
                          <a:spcPts val="2400"/>
                        </a:spcAft>
                        <a:buNone/>
                      </a:pPr>
                      <a:r>
                        <a:rPr lang="en-US" dirty="0">
                          <a:solidFill>
                            <a:srgbClr val="1F1F1F"/>
                          </a:solidFill>
                          <a:effectLst/>
                        </a:rPr>
                        <a:t>High-Hazard Coastal Surge &amp; Floodplain</a:t>
                      </a:r>
                    </a:p>
                  </a:txBody>
                  <a:tcPr marL="114300" marR="114300" marT="76200" marB="76200" anchor="ctr"/>
                </a:tc>
                <a:tc>
                  <a:txBody>
                    <a:bodyPr/>
                    <a:lstStyle/>
                    <a:p>
                      <a:pPr marL="0" marR="0" rtl="0">
                        <a:spcAft>
                          <a:spcPts val="2400"/>
                        </a:spcAft>
                        <a:buNone/>
                      </a:pPr>
                      <a:r>
                        <a:rPr lang="en-US" dirty="0">
                          <a:solidFill>
                            <a:srgbClr val="1F1F1F"/>
                          </a:solidFill>
                          <a:effectLst/>
                        </a:rPr>
                        <a:t>13</a:t>
                      </a:r>
                    </a:p>
                  </a:txBody>
                  <a:tcPr marL="114300" marR="114300" marT="76200" marB="76200" anchor="ctr"/>
                </a:tc>
                <a:tc>
                  <a:txBody>
                    <a:bodyPr/>
                    <a:lstStyle/>
                    <a:p>
                      <a:pPr marL="0" marR="0" rtl="0">
                        <a:spcAft>
                          <a:spcPts val="2400"/>
                        </a:spcAft>
                        <a:buNone/>
                      </a:pPr>
                      <a:r>
                        <a:rPr lang="en-US" dirty="0">
                          <a:solidFill>
                            <a:srgbClr val="1F1F1F"/>
                          </a:solidFill>
                          <a:effectLst/>
                        </a:rPr>
                        <a:t>Coastal edge &amp; surge paths</a:t>
                      </a:r>
                    </a:p>
                  </a:txBody>
                  <a:tcPr marL="114300" marR="114300" marT="76200" marB="76200" anchor="ctr"/>
                </a:tc>
                <a:tc>
                  <a:txBody>
                    <a:bodyPr/>
                    <a:lstStyle/>
                    <a:p>
                      <a:pPr marL="0" marR="0" rtl="0">
                        <a:spcAft>
                          <a:spcPts val="2400"/>
                        </a:spcAft>
                        <a:buNone/>
                      </a:pPr>
                      <a:r>
                        <a:rPr lang="en-US" dirty="0">
                          <a:solidFill>
                            <a:srgbClr val="1F1F1F"/>
                          </a:solidFill>
                          <a:effectLst/>
                        </a:rPr>
                        <a:t>Severe (Peak Surge &amp; NFIP)</a:t>
                      </a:r>
                    </a:p>
                  </a:txBody>
                  <a:tcPr marL="114300" marR="114300" marT="76200" marB="76200" anchor="ctr"/>
                </a:tc>
                <a:tc>
                  <a:txBody>
                    <a:bodyPr/>
                    <a:lstStyle/>
                    <a:p>
                      <a:pPr marL="0" marR="0" rtl="0">
                        <a:spcAft>
                          <a:spcPts val="2400"/>
                        </a:spcAft>
                        <a:buNone/>
                      </a:pPr>
                      <a:r>
                        <a:rPr lang="en-US" dirty="0">
                          <a:solidFill>
                            <a:srgbClr val="1F1F1F"/>
                          </a:solidFill>
                          <a:effectLst/>
                        </a:rPr>
                        <a:t>TWIA mandatory coverage zones</a:t>
                      </a:r>
                    </a:p>
                  </a:txBody>
                  <a:tcPr marL="114300" marR="114300" marT="76200" marB="76200" anchor="ctr"/>
                </a:tc>
                <a:tc>
                  <a:txBody>
                    <a:bodyPr/>
                    <a:lstStyle/>
                    <a:p>
                      <a:pPr marL="0" marR="0" rtl="0">
                        <a:spcAft>
                          <a:spcPts val="2400"/>
                        </a:spcAft>
                        <a:buNone/>
                      </a:pPr>
                      <a:r>
                        <a:rPr lang="en-US" dirty="0">
                          <a:solidFill>
                            <a:srgbClr val="1F1F1F"/>
                          </a:solidFill>
                          <a:effectLst/>
                        </a:rPr>
                        <a:t>+$175.00/</a:t>
                      </a:r>
                      <a:r>
                        <a:rPr lang="en-US" dirty="0" err="1">
                          <a:solidFill>
                            <a:srgbClr val="1F1F1F"/>
                          </a:solidFill>
                          <a:effectLst/>
                        </a:rPr>
                        <a:t>mo</a:t>
                      </a:r>
                      <a:r>
                        <a:rPr lang="en-US" dirty="0">
                          <a:solidFill>
                            <a:srgbClr val="1F1F1F"/>
                          </a:solidFill>
                          <a:effectLst/>
                        </a:rPr>
                        <a:t> mandatory insurance</a:t>
                      </a:r>
                    </a:p>
                  </a:txBody>
                  <a:tcPr marL="114300" marR="114300" marT="76200" marB="76200" anchor="ctr"/>
                </a:tc>
                <a:extLst>
                  <a:ext uri="{0D108BD9-81ED-4DB2-BD59-A6C34878D82A}">
                    <a16:rowId xmlns:a16="http://schemas.microsoft.com/office/drawing/2014/main" val="924880017"/>
                  </a:ext>
                </a:extLst>
              </a:tr>
            </a:tbl>
          </a:graphicData>
        </a:graphic>
      </p:graphicFrame>
      <p:sp>
        <p:nvSpPr>
          <p:cNvPr id="9" name="Google Shape;296;p20">
            <a:extLst>
              <a:ext uri="{FF2B5EF4-FFF2-40B4-BE49-F238E27FC236}">
                <a16:creationId xmlns:a16="http://schemas.microsoft.com/office/drawing/2014/main" id="{25BA5210-2C9D-F450-46A4-14A013088A89}"/>
              </a:ext>
            </a:extLst>
          </p:cNvPr>
          <p:cNvSpPr txBox="1"/>
          <p:nvPr/>
        </p:nvSpPr>
        <p:spPr>
          <a:xfrm>
            <a:off x="609600" y="457200"/>
            <a:ext cx="11582400" cy="176972"/>
          </a:xfrm>
          <a:prstGeom prst="rect">
            <a:avLst/>
          </a:prstGeom>
          <a:noFill/>
          <a:ln>
            <a:noFill/>
          </a:ln>
        </p:spPr>
        <p:txBody>
          <a:bodyPr spcFirstLastPara="1" wrap="square" lIns="0" tIns="0" rIns="0" bIns="0" anchor="t" anchorCtr="0">
            <a:spAutoFit/>
          </a:bodyPr>
          <a:lstStyle/>
          <a:p>
            <a:r>
              <a:rPr lang="en-US" sz="1150" b="1" dirty="0">
                <a:solidFill>
                  <a:srgbClr val="2563EB"/>
                </a:solidFill>
                <a:latin typeface="Plus Jakarta Sans"/>
                <a:cs typeface="Plus Jakarta Sans"/>
                <a:sym typeface="Plus Jakarta Sans"/>
              </a:rPr>
              <a:t>ARCHITECTURE BREAKDOWN</a:t>
            </a:r>
            <a:endParaRPr lang="en-US" sz="1150" dirty="0"/>
          </a:p>
        </p:txBody>
      </p:sp>
      <p:sp>
        <p:nvSpPr>
          <p:cNvPr id="23" name="Google Shape;215;p17">
            <a:extLst>
              <a:ext uri="{FF2B5EF4-FFF2-40B4-BE49-F238E27FC236}">
                <a16:creationId xmlns:a16="http://schemas.microsoft.com/office/drawing/2014/main" id="{151EBC75-5A1B-3705-FD76-D881933212AC}"/>
              </a:ext>
            </a:extLst>
          </p:cNvPr>
          <p:cNvSpPr/>
          <p:nvPr/>
        </p:nvSpPr>
        <p:spPr>
          <a:xfrm>
            <a:off x="600420" y="1447251"/>
            <a:ext cx="10972800" cy="831300"/>
          </a:xfrm>
          <a:prstGeom prst="roundRect">
            <a:avLst>
              <a:gd name="adj" fmla="val 424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 name="Google Shape;216;p17">
            <a:extLst>
              <a:ext uri="{FF2B5EF4-FFF2-40B4-BE49-F238E27FC236}">
                <a16:creationId xmlns:a16="http://schemas.microsoft.com/office/drawing/2014/main" id="{F3BC5845-E115-A792-7AD2-2A287162455D}"/>
              </a:ext>
            </a:extLst>
          </p:cNvPr>
          <p:cNvSpPr txBox="1"/>
          <p:nvPr/>
        </p:nvSpPr>
        <p:spPr>
          <a:xfrm>
            <a:off x="857629" y="1451727"/>
            <a:ext cx="10456200" cy="817510"/>
          </a:xfrm>
          <a:prstGeom prst="rect">
            <a:avLst/>
          </a:prstGeom>
          <a:noFill/>
          <a:ln>
            <a:noFill/>
          </a:ln>
        </p:spPr>
        <p:txBody>
          <a:bodyPr spcFirstLastPara="1" wrap="square" lIns="91425" tIns="91425" rIns="91425" bIns="91425" anchor="t" anchorCtr="0">
            <a:noAutofit/>
          </a:bodyPr>
          <a:lstStyle/>
          <a:p>
            <a:r>
              <a:rPr lang="en-US" dirty="0">
                <a:solidFill>
                  <a:srgbClr val="434343"/>
                </a:solidFill>
              </a:rPr>
              <a:t>This table categorizes 279 regional ZIP codes into four distinct cost and hazard archetypes. By looking beyond broad county averages, the model isolates structural financial liabilities—such as suburban MUD water surcharges and mandatory coastal insurance premiums—that directly impact a homebuyer's true monthly occupancy cost.</a:t>
            </a:r>
            <a:endParaRPr lang="en-US" dirty="0"/>
          </a:p>
        </p:txBody>
      </p:sp>
      <p:sp>
        <p:nvSpPr>
          <p:cNvPr id="27" name="Google Shape;120;p14">
            <a:extLst>
              <a:ext uri="{FF2B5EF4-FFF2-40B4-BE49-F238E27FC236}">
                <a16:creationId xmlns:a16="http://schemas.microsoft.com/office/drawing/2014/main" id="{A05995D9-9B8C-56A6-13F8-EFF628FC2BE3}"/>
              </a:ext>
            </a:extLst>
          </p:cNvPr>
          <p:cNvSpPr txBox="1"/>
          <p:nvPr/>
        </p:nvSpPr>
        <p:spPr>
          <a:xfrm>
            <a:off x="9967315" y="345415"/>
            <a:ext cx="19374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 Brandon M </a:t>
            </a:r>
            <a:endParaRPr sz="19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05183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7"/>
        <p:cNvGrpSpPr/>
        <p:nvPr/>
      </p:nvGrpSpPr>
      <p:grpSpPr>
        <a:xfrm>
          <a:off x="0" y="0"/>
          <a:ext cx="0" cy="0"/>
          <a:chOff x="0" y="0"/>
          <a:chExt cx="0" cy="0"/>
        </a:xfrm>
      </p:grpSpPr>
      <p:sp>
        <p:nvSpPr>
          <p:cNvPr id="328" name="Google Shape;328;p21"/>
          <p:cNvSpPr/>
          <p:nvPr/>
        </p:nvSpPr>
        <p:spPr>
          <a:xfrm>
            <a:off x="8062563" y="2109001"/>
            <a:ext cx="3505200" cy="3220200"/>
          </a:xfrm>
          <a:prstGeom prst="roundRect">
            <a:avLst>
              <a:gd name="adj" fmla="val 4670"/>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9" name="Google Shape;329;p21"/>
          <p:cNvSpPr/>
          <p:nvPr/>
        </p:nvSpPr>
        <p:spPr>
          <a:xfrm>
            <a:off x="4414338" y="2109001"/>
            <a:ext cx="3505200" cy="3220200"/>
          </a:xfrm>
          <a:prstGeom prst="roundRect">
            <a:avLst>
              <a:gd name="adj" fmla="val 4670"/>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0" name="Google Shape;330;p21"/>
          <p:cNvSpPr/>
          <p:nvPr/>
        </p:nvSpPr>
        <p:spPr>
          <a:xfrm>
            <a:off x="766113" y="2109001"/>
            <a:ext cx="3505200" cy="3220200"/>
          </a:xfrm>
          <a:prstGeom prst="roundRect">
            <a:avLst>
              <a:gd name="adj" fmla="val 4670"/>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1" name="Google Shape;331;p21"/>
          <p:cNvSpPr/>
          <p:nvPr/>
        </p:nvSpPr>
        <p:spPr>
          <a:xfrm>
            <a:off x="1004163" y="4387403"/>
            <a:ext cx="3029100" cy="685800"/>
          </a:xfrm>
          <a:prstGeom prst="roundRect">
            <a:avLst>
              <a:gd name="adj" fmla="val 11111"/>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2" name="Google Shape;332;p21"/>
          <p:cNvSpPr/>
          <p:nvPr/>
        </p:nvSpPr>
        <p:spPr>
          <a:xfrm>
            <a:off x="4652388" y="4387403"/>
            <a:ext cx="3029100" cy="685800"/>
          </a:xfrm>
          <a:prstGeom prst="roundRect">
            <a:avLst>
              <a:gd name="adj" fmla="val 11111"/>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3" name="Google Shape;333;p21"/>
          <p:cNvSpPr/>
          <p:nvPr/>
        </p:nvSpPr>
        <p:spPr>
          <a:xfrm>
            <a:off x="8302900" y="4492180"/>
            <a:ext cx="3029100" cy="476400"/>
          </a:xfrm>
          <a:prstGeom prst="roundRect">
            <a:avLst>
              <a:gd name="adj" fmla="val 1600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34" name="Google Shape;334;p21" descr="image.png"/>
          <p:cNvPicPr preferRelativeResize="0"/>
          <p:nvPr/>
        </p:nvPicPr>
        <p:blipFill rotWithShape="1">
          <a:blip r:embed="rId3">
            <a:alphaModFix/>
          </a:blip>
          <a:srcRect/>
          <a:stretch/>
        </p:blipFill>
        <p:spPr>
          <a:xfrm>
            <a:off x="1027975" y="2538960"/>
            <a:ext cx="219075" cy="190500"/>
          </a:xfrm>
          <a:prstGeom prst="rect">
            <a:avLst/>
          </a:prstGeom>
          <a:noFill/>
          <a:ln>
            <a:noFill/>
          </a:ln>
        </p:spPr>
      </p:pic>
      <p:pic>
        <p:nvPicPr>
          <p:cNvPr id="335" name="Google Shape;335;p21" descr="image.png"/>
          <p:cNvPicPr preferRelativeResize="0"/>
          <p:nvPr/>
        </p:nvPicPr>
        <p:blipFill rotWithShape="1">
          <a:blip r:embed="rId4">
            <a:alphaModFix/>
          </a:blip>
          <a:srcRect/>
          <a:stretch/>
        </p:blipFill>
        <p:spPr>
          <a:xfrm>
            <a:off x="4616625" y="2538960"/>
            <a:ext cx="190500" cy="190500"/>
          </a:xfrm>
          <a:prstGeom prst="rect">
            <a:avLst/>
          </a:prstGeom>
          <a:noFill/>
          <a:ln>
            <a:noFill/>
          </a:ln>
        </p:spPr>
      </p:pic>
      <p:pic>
        <p:nvPicPr>
          <p:cNvPr id="336" name="Google Shape;336;p21" descr="image.png"/>
          <p:cNvPicPr preferRelativeResize="0"/>
          <p:nvPr/>
        </p:nvPicPr>
        <p:blipFill rotWithShape="1">
          <a:blip r:embed="rId5">
            <a:alphaModFix/>
          </a:blip>
          <a:srcRect/>
          <a:stretch/>
        </p:blipFill>
        <p:spPr>
          <a:xfrm>
            <a:off x="8321850" y="2538908"/>
            <a:ext cx="190500" cy="190500"/>
          </a:xfrm>
          <a:prstGeom prst="rect">
            <a:avLst/>
          </a:prstGeom>
          <a:noFill/>
          <a:ln>
            <a:noFill/>
          </a:ln>
        </p:spPr>
      </p:pic>
      <p:sp>
        <p:nvSpPr>
          <p:cNvPr id="337" name="Google Shape;337;p21"/>
          <p:cNvSpPr txBox="1"/>
          <p:nvPr/>
        </p:nvSpPr>
        <p:spPr>
          <a:xfrm>
            <a:off x="609600" y="4572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Plus Jakarta Sans"/>
                <a:ea typeface="Plus Jakarta Sans"/>
                <a:cs typeface="Plus Jakarta Sans"/>
                <a:sym typeface="Plus Jakarta Sans"/>
              </a:rPr>
              <a:t>EMPIRICAL FINDINGS</a:t>
            </a:r>
            <a:endParaRPr/>
          </a:p>
        </p:txBody>
      </p:sp>
      <p:sp>
        <p:nvSpPr>
          <p:cNvPr id="338" name="Google Shape;338;p21"/>
          <p:cNvSpPr txBox="1"/>
          <p:nvPr/>
        </p:nvSpPr>
        <p:spPr>
          <a:xfrm>
            <a:off x="609600" y="1172625"/>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Plus Jakarta Sans"/>
                <a:ea typeface="Plus Jakarta Sans"/>
                <a:cs typeface="Plus Jakarta Sans"/>
                <a:sym typeface="Plus Jakarta Sans"/>
              </a:rPr>
              <a:t>EDA &amp; Structural Cost Cliffs</a:t>
            </a:r>
            <a:endParaRPr/>
          </a:p>
        </p:txBody>
      </p:sp>
      <p:sp>
        <p:nvSpPr>
          <p:cNvPr id="339" name="Google Shape;339;p21"/>
          <p:cNvSpPr txBox="1"/>
          <p:nvPr/>
        </p:nvSpPr>
        <p:spPr>
          <a:xfrm>
            <a:off x="1017850" y="3218285"/>
            <a:ext cx="3124200" cy="765300"/>
          </a:xfrm>
          <a:prstGeom prst="rect">
            <a:avLst/>
          </a:prstGeom>
          <a:noFill/>
          <a:ln>
            <a:noFill/>
          </a:ln>
        </p:spPr>
        <p:txBody>
          <a:bodyPr spcFirstLastPara="1" wrap="square" lIns="0" tIns="0" rIns="0" bIns="0" anchor="t" anchorCtr="0">
            <a:spAutoFit/>
          </a:bodyPr>
          <a:lstStyle/>
          <a:p>
            <a:pPr marL="0" marR="0" lvl="0" indent="0" algn="l" rtl="0">
              <a:lnSpc>
                <a:spcPct val="144941"/>
              </a:lnSpc>
              <a:spcBef>
                <a:spcPts val="0"/>
              </a:spcBef>
              <a:spcAft>
                <a:spcPts val="0"/>
              </a:spcAft>
              <a:buNone/>
            </a:pPr>
            <a:r>
              <a:rPr lang="en-US" sz="1275" b="0" i="0" u="none" strike="noStrike" cap="none">
                <a:solidFill>
                  <a:srgbClr val="334155"/>
                </a:solidFill>
                <a:latin typeface="Plus Jakarta Sans"/>
                <a:ea typeface="Plus Jakarta Sans"/>
                <a:cs typeface="Plus Jakarta Sans"/>
                <a:sym typeface="Plus Jakarta Sans"/>
              </a:rPr>
              <a:t>Flood damage is hyper-localized; the median ZIP saw 286 claims, but major bayou corridors peak at 8,374 claims.</a:t>
            </a:r>
            <a:endParaRPr/>
          </a:p>
        </p:txBody>
      </p:sp>
      <p:sp>
        <p:nvSpPr>
          <p:cNvPr id="340" name="Google Shape;340;p21"/>
          <p:cNvSpPr txBox="1"/>
          <p:nvPr/>
        </p:nvSpPr>
        <p:spPr>
          <a:xfrm>
            <a:off x="4676200" y="3289722"/>
            <a:ext cx="3124200" cy="765300"/>
          </a:xfrm>
          <a:prstGeom prst="rect">
            <a:avLst/>
          </a:prstGeom>
          <a:noFill/>
          <a:ln>
            <a:noFill/>
          </a:ln>
        </p:spPr>
        <p:txBody>
          <a:bodyPr spcFirstLastPara="1" wrap="square" lIns="0" tIns="0" rIns="0" bIns="0" anchor="t" anchorCtr="0">
            <a:spAutoFit/>
          </a:bodyPr>
          <a:lstStyle/>
          <a:p>
            <a:pPr marL="0" marR="0" lvl="0" indent="0" algn="l" rtl="0">
              <a:lnSpc>
                <a:spcPct val="144941"/>
              </a:lnSpc>
              <a:spcBef>
                <a:spcPts val="0"/>
              </a:spcBef>
              <a:spcAft>
                <a:spcPts val="0"/>
              </a:spcAft>
              <a:buNone/>
            </a:pPr>
            <a:r>
              <a:rPr lang="en-US" sz="1275" b="0" i="0" u="none" strike="noStrike" cap="none">
                <a:solidFill>
                  <a:srgbClr val="334155"/>
                </a:solidFill>
                <a:latin typeface="Plus Jakarta Sans"/>
                <a:ea typeface="Plus Jakarta Sans"/>
                <a:cs typeface="Plus Jakarta Sans"/>
                <a:sym typeface="Plus Jakarta Sans"/>
              </a:rPr>
              <a:t>Suburban enclaves face an automatic $11.50/month base water penalty over municipal residents ($28.30 vs. $16.80).</a:t>
            </a:r>
            <a:endParaRPr/>
          </a:p>
        </p:txBody>
      </p:sp>
      <p:sp>
        <p:nvSpPr>
          <p:cNvPr id="341" name="Google Shape;341;p21"/>
          <p:cNvSpPr txBox="1"/>
          <p:nvPr/>
        </p:nvSpPr>
        <p:spPr>
          <a:xfrm>
            <a:off x="8350425" y="3047207"/>
            <a:ext cx="3124200" cy="1334100"/>
          </a:xfrm>
          <a:prstGeom prst="rect">
            <a:avLst/>
          </a:prstGeom>
          <a:noFill/>
          <a:ln>
            <a:noFill/>
          </a:ln>
        </p:spPr>
        <p:txBody>
          <a:bodyPr spcFirstLastPara="1" wrap="square" lIns="0" tIns="0" rIns="0" bIns="0" anchor="t" anchorCtr="0">
            <a:spAutoFit/>
          </a:bodyPr>
          <a:lstStyle/>
          <a:p>
            <a:pPr marL="0" marR="0" lvl="0" indent="0" algn="l" rtl="0">
              <a:lnSpc>
                <a:spcPct val="144941"/>
              </a:lnSpc>
              <a:spcBef>
                <a:spcPts val="0"/>
              </a:spcBef>
              <a:spcAft>
                <a:spcPts val="0"/>
              </a:spcAft>
              <a:buNone/>
            </a:pPr>
            <a:r>
              <a:rPr lang="en-US" sz="1275" b="0" i="0" u="none" strike="noStrike" cap="none">
                <a:solidFill>
                  <a:srgbClr val="334155"/>
                </a:solidFill>
                <a:latin typeface="Plus Jakarta Sans"/>
                <a:ea typeface="Plus Jakarta Sans"/>
                <a:cs typeface="Plus Jakarta Sans"/>
                <a:sym typeface="Plus Jakarta Sans"/>
              </a:rPr>
              <a:t>100% mandatory TWIA windstorm coverage and TNMP's higher electric delivery tariffs generate an immediate &gt;$200/month structural cost cliff relative to inland zones.</a:t>
            </a:r>
            <a:endParaRPr/>
          </a:p>
        </p:txBody>
      </p:sp>
      <p:sp>
        <p:nvSpPr>
          <p:cNvPr id="342" name="Google Shape;342;p21"/>
          <p:cNvSpPr txBox="1"/>
          <p:nvPr/>
        </p:nvSpPr>
        <p:spPr>
          <a:xfrm>
            <a:off x="1342300" y="2515147"/>
            <a:ext cx="24753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Extreme Claim Skew</a:t>
            </a:r>
            <a:endParaRPr/>
          </a:p>
        </p:txBody>
      </p:sp>
      <p:sp>
        <p:nvSpPr>
          <p:cNvPr id="343" name="Google Shape;343;p21"/>
          <p:cNvSpPr txBox="1"/>
          <p:nvPr/>
        </p:nvSpPr>
        <p:spPr>
          <a:xfrm>
            <a:off x="4902375" y="2515147"/>
            <a:ext cx="32754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The Suburban MUD Penalty</a:t>
            </a:r>
            <a:endParaRPr/>
          </a:p>
        </p:txBody>
      </p:sp>
      <p:sp>
        <p:nvSpPr>
          <p:cNvPr id="344" name="Google Shape;344;p21"/>
          <p:cNvSpPr txBox="1"/>
          <p:nvPr/>
        </p:nvSpPr>
        <p:spPr>
          <a:xfrm>
            <a:off x="8607600" y="2515095"/>
            <a:ext cx="2612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The Coastal Cost Cliff</a:t>
            </a:r>
            <a:endParaRPr/>
          </a:p>
        </p:txBody>
      </p:sp>
      <p:sp>
        <p:nvSpPr>
          <p:cNvPr id="345" name="Google Shape;345;p21"/>
          <p:cNvSpPr txBox="1"/>
          <p:nvPr/>
        </p:nvSpPr>
        <p:spPr>
          <a:xfrm>
            <a:off x="1147038" y="4530278"/>
            <a:ext cx="9717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Plus Jakarta Sans"/>
                <a:ea typeface="Plus Jakarta Sans"/>
                <a:cs typeface="Plus Jakarta Sans"/>
                <a:sym typeface="Plus Jakarta Sans"/>
              </a:rPr>
              <a:t>Median ZIP</a:t>
            </a:r>
            <a:endParaRPr/>
          </a:p>
        </p:txBody>
      </p:sp>
      <p:sp>
        <p:nvSpPr>
          <p:cNvPr id="346" name="Google Shape;346;p21"/>
          <p:cNvSpPr txBox="1"/>
          <p:nvPr/>
        </p:nvSpPr>
        <p:spPr>
          <a:xfrm>
            <a:off x="3128238" y="4530278"/>
            <a:ext cx="10479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F172A"/>
                </a:solidFill>
                <a:latin typeface="JetBrains Mono"/>
                <a:ea typeface="JetBrains Mono"/>
                <a:cs typeface="JetBrains Mono"/>
                <a:sym typeface="JetBrains Mono"/>
              </a:rPr>
              <a:t>286 Claims</a:t>
            </a:r>
            <a:endParaRPr/>
          </a:p>
        </p:txBody>
      </p:sp>
      <p:sp>
        <p:nvSpPr>
          <p:cNvPr id="347" name="Google Shape;347;p21"/>
          <p:cNvSpPr txBox="1"/>
          <p:nvPr/>
        </p:nvSpPr>
        <p:spPr>
          <a:xfrm>
            <a:off x="1147038" y="4758878"/>
            <a:ext cx="16311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Plus Jakarta Sans"/>
                <a:ea typeface="Plus Jakarta Sans"/>
                <a:cs typeface="Plus Jakarta Sans"/>
                <a:sym typeface="Plus Jakarta Sans"/>
              </a:rPr>
              <a:t>Bayou Corridor Peak</a:t>
            </a:r>
            <a:endParaRPr/>
          </a:p>
        </p:txBody>
      </p:sp>
      <p:sp>
        <p:nvSpPr>
          <p:cNvPr id="348" name="Google Shape;348;p21"/>
          <p:cNvSpPr txBox="1"/>
          <p:nvPr/>
        </p:nvSpPr>
        <p:spPr>
          <a:xfrm>
            <a:off x="2975838" y="4758878"/>
            <a:ext cx="12003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DC2626"/>
                </a:solidFill>
                <a:latin typeface="JetBrains Mono"/>
                <a:ea typeface="JetBrains Mono"/>
                <a:cs typeface="JetBrains Mono"/>
                <a:sym typeface="JetBrains Mono"/>
              </a:rPr>
              <a:t>8,374 Claims</a:t>
            </a:r>
            <a:endParaRPr/>
          </a:p>
        </p:txBody>
      </p:sp>
      <p:sp>
        <p:nvSpPr>
          <p:cNvPr id="349" name="Google Shape;349;p21"/>
          <p:cNvSpPr txBox="1"/>
          <p:nvPr/>
        </p:nvSpPr>
        <p:spPr>
          <a:xfrm>
            <a:off x="4795263" y="4530278"/>
            <a:ext cx="16668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Plus Jakarta Sans"/>
                <a:ea typeface="Plus Jakarta Sans"/>
                <a:cs typeface="Plus Jakarta Sans"/>
                <a:sym typeface="Plus Jakarta Sans"/>
              </a:rPr>
              <a:t>Municipal Water Base</a:t>
            </a:r>
            <a:endParaRPr/>
          </a:p>
        </p:txBody>
      </p:sp>
      <p:sp>
        <p:nvSpPr>
          <p:cNvPr id="350" name="Google Shape;350;p21"/>
          <p:cNvSpPr txBox="1"/>
          <p:nvPr/>
        </p:nvSpPr>
        <p:spPr>
          <a:xfrm>
            <a:off x="6700263" y="4530278"/>
            <a:ext cx="11241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F172A"/>
                </a:solidFill>
                <a:latin typeface="JetBrains Mono"/>
                <a:ea typeface="JetBrains Mono"/>
                <a:cs typeface="JetBrains Mono"/>
                <a:sym typeface="JetBrains Mono"/>
              </a:rPr>
              <a:t>$16.80 / mo</a:t>
            </a:r>
            <a:endParaRPr/>
          </a:p>
        </p:txBody>
      </p:sp>
      <p:sp>
        <p:nvSpPr>
          <p:cNvPr id="351" name="Google Shape;351;p21"/>
          <p:cNvSpPr txBox="1"/>
          <p:nvPr/>
        </p:nvSpPr>
        <p:spPr>
          <a:xfrm>
            <a:off x="4795263" y="4758878"/>
            <a:ext cx="12477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Plus Jakarta Sans"/>
                <a:ea typeface="Plus Jakarta Sans"/>
                <a:cs typeface="Plus Jakarta Sans"/>
                <a:sym typeface="Plus Jakarta Sans"/>
              </a:rPr>
              <a:t>MUD Base Rate</a:t>
            </a:r>
            <a:endParaRPr/>
          </a:p>
        </p:txBody>
      </p:sp>
      <p:sp>
        <p:nvSpPr>
          <p:cNvPr id="352" name="Google Shape;352;p21"/>
          <p:cNvSpPr txBox="1"/>
          <p:nvPr/>
        </p:nvSpPr>
        <p:spPr>
          <a:xfrm>
            <a:off x="6700263" y="4758878"/>
            <a:ext cx="11241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D97706"/>
                </a:solidFill>
                <a:latin typeface="JetBrains Mono"/>
                <a:ea typeface="JetBrains Mono"/>
                <a:cs typeface="JetBrains Mono"/>
                <a:sym typeface="JetBrains Mono"/>
              </a:rPr>
              <a:t>$28.30 / mo</a:t>
            </a:r>
            <a:endParaRPr/>
          </a:p>
        </p:txBody>
      </p:sp>
      <p:sp>
        <p:nvSpPr>
          <p:cNvPr id="353" name="Google Shape;353;p21"/>
          <p:cNvSpPr txBox="1"/>
          <p:nvPr/>
        </p:nvSpPr>
        <p:spPr>
          <a:xfrm>
            <a:off x="8445775" y="4644580"/>
            <a:ext cx="15240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Plus Jakarta Sans"/>
                <a:ea typeface="Plus Jakarta Sans"/>
                <a:cs typeface="Plus Jakarta Sans"/>
                <a:sym typeface="Plus Jakarta Sans"/>
              </a:rPr>
              <a:t>Structural Cost Cliff</a:t>
            </a:r>
            <a:endParaRPr/>
          </a:p>
        </p:txBody>
      </p:sp>
      <p:sp>
        <p:nvSpPr>
          <p:cNvPr id="354" name="Google Shape;354;p21"/>
          <p:cNvSpPr txBox="1"/>
          <p:nvPr/>
        </p:nvSpPr>
        <p:spPr>
          <a:xfrm>
            <a:off x="9988825" y="4635055"/>
            <a:ext cx="15003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DC2626"/>
                </a:solidFill>
                <a:latin typeface="JetBrains Mono"/>
                <a:ea typeface="JetBrains Mono"/>
                <a:cs typeface="JetBrains Mono"/>
                <a:sym typeface="JetBrains Mono"/>
              </a:rPr>
              <a:t>+&gt;$200.00 / mo</a:t>
            </a:r>
            <a:endParaRPr/>
          </a:p>
        </p:txBody>
      </p:sp>
      <p:sp>
        <p:nvSpPr>
          <p:cNvPr id="355" name="Google Shape;355;p21"/>
          <p:cNvSpPr/>
          <p:nvPr/>
        </p:nvSpPr>
        <p:spPr>
          <a:xfrm>
            <a:off x="609600" y="5697925"/>
            <a:ext cx="10972800" cy="831300"/>
          </a:xfrm>
          <a:prstGeom prst="roundRect">
            <a:avLst>
              <a:gd name="adj" fmla="val 4242"/>
            </a:avLst>
          </a:prstGeom>
          <a:solidFill>
            <a:srgbClr val="F8FAFC"/>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6" name="Google Shape;356;p21"/>
          <p:cNvSpPr txBox="1"/>
          <p:nvPr/>
        </p:nvSpPr>
        <p:spPr>
          <a:xfrm>
            <a:off x="811725" y="5821750"/>
            <a:ext cx="10456200" cy="6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434343"/>
                </a:solidFill>
              </a:rPr>
              <a:t>What this means:</a:t>
            </a:r>
            <a:r>
              <a:rPr lang="en-US">
                <a:solidFill>
                  <a:srgbClr val="434343"/>
                </a:solidFill>
              </a:rPr>
              <a:t> Moving just a few miles into a suburban MUD or coastal area can automatically trigger hundreds of dollars in extra monthly water and windstorm bills.</a:t>
            </a:r>
            <a:endParaRPr sz="3500">
              <a:solidFill>
                <a:srgbClr val="434343"/>
              </a:solidFill>
              <a:latin typeface="Calibri"/>
              <a:ea typeface="Calibri"/>
              <a:cs typeface="Calibri"/>
              <a:sym typeface="Calibri"/>
            </a:endParaRPr>
          </a:p>
        </p:txBody>
      </p:sp>
      <p:sp>
        <p:nvSpPr>
          <p:cNvPr id="358" name="Google Shape;358;p21"/>
          <p:cNvSpPr txBox="1"/>
          <p:nvPr/>
        </p:nvSpPr>
        <p:spPr>
          <a:xfrm>
            <a:off x="10275610" y="346170"/>
            <a:ext cx="14463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chemeClr val="dk1"/>
                </a:solidFill>
                <a:latin typeface="Calibri"/>
                <a:ea typeface="Calibri"/>
                <a:cs typeface="Calibri"/>
                <a:sym typeface="Calibri"/>
              </a:rPr>
              <a:t>🎤 Jonah J</a:t>
            </a:r>
            <a:endParaRPr sz="1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101D"/>
        </a:solidFill>
        <a:effectLst/>
      </p:bgPr>
    </p:bg>
    <p:spTree>
      <p:nvGrpSpPr>
        <p:cNvPr id="1" name="Shape 362"/>
        <p:cNvGrpSpPr/>
        <p:nvPr/>
      </p:nvGrpSpPr>
      <p:grpSpPr>
        <a:xfrm>
          <a:off x="0" y="0"/>
          <a:ext cx="0" cy="0"/>
          <a:chOff x="0" y="0"/>
          <a:chExt cx="0" cy="0"/>
        </a:xfrm>
      </p:grpSpPr>
      <p:sp>
        <p:nvSpPr>
          <p:cNvPr id="363" name="Google Shape;363;p22"/>
          <p:cNvSpPr/>
          <p:nvPr/>
        </p:nvSpPr>
        <p:spPr>
          <a:xfrm>
            <a:off x="762000" y="5089189"/>
            <a:ext cx="10668000" cy="1224377"/>
          </a:xfrm>
          <a:prstGeom prst="roundRect">
            <a:avLst>
              <a:gd name="adj" fmla="val 5076"/>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4" name="Google Shape;364;p22"/>
          <p:cNvSpPr/>
          <p:nvPr/>
        </p:nvSpPr>
        <p:spPr>
          <a:xfrm>
            <a:off x="762000" y="2394644"/>
            <a:ext cx="3403550" cy="1600200"/>
          </a:xfrm>
          <a:prstGeom prst="roundRect">
            <a:avLst>
              <a:gd name="adj" fmla="val 7142"/>
            </a:avLst>
          </a:prstGeom>
          <a:solidFill>
            <a:srgbClr val="111D33"/>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5" name="Google Shape;365;p22"/>
          <p:cNvSpPr/>
          <p:nvPr/>
        </p:nvSpPr>
        <p:spPr>
          <a:xfrm>
            <a:off x="4394150" y="2213669"/>
            <a:ext cx="3403550" cy="1962150"/>
          </a:xfrm>
          <a:prstGeom prst="roundRect">
            <a:avLst>
              <a:gd name="adj" fmla="val 5825"/>
            </a:avLst>
          </a:prstGeom>
          <a:solidFill>
            <a:srgbClr val="111D33"/>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6" name="Google Shape;366;p22"/>
          <p:cNvSpPr/>
          <p:nvPr/>
        </p:nvSpPr>
        <p:spPr>
          <a:xfrm>
            <a:off x="8026300" y="2394644"/>
            <a:ext cx="3403550" cy="1600200"/>
          </a:xfrm>
          <a:prstGeom prst="roundRect">
            <a:avLst>
              <a:gd name="adj" fmla="val 7142"/>
            </a:avLst>
          </a:prstGeom>
          <a:solidFill>
            <a:srgbClr val="1E1423"/>
          </a:solidFill>
          <a:ln w="9525" cap="flat" cmpd="sng">
            <a:solidFill>
              <a:srgbClr val="4C1D3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7" name="Google Shape;367;p22"/>
          <p:cNvSpPr/>
          <p:nvPr/>
        </p:nvSpPr>
        <p:spPr>
          <a:xfrm>
            <a:off x="762000" y="5089189"/>
            <a:ext cx="38100" cy="1224377"/>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2"/>
          <p:cNvSpPr txBox="1"/>
          <p:nvPr/>
        </p:nvSpPr>
        <p:spPr>
          <a:xfrm>
            <a:off x="762000" y="533400"/>
            <a:ext cx="114300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Plus Jakarta Sans"/>
                <a:ea typeface="Plus Jakarta Sans"/>
                <a:cs typeface="Plus Jakarta Sans"/>
                <a:sym typeface="Plus Jakarta Sans"/>
              </a:rPr>
              <a:t>MODEL EVALUATION • ANALYTICAL DEFENSE</a:t>
            </a:r>
            <a:endParaRPr/>
          </a:p>
        </p:txBody>
      </p:sp>
      <p:sp>
        <p:nvSpPr>
          <p:cNvPr id="369" name="Google Shape;369;p22"/>
          <p:cNvSpPr txBox="1"/>
          <p:nvPr/>
        </p:nvSpPr>
        <p:spPr>
          <a:xfrm>
            <a:off x="762000" y="884800"/>
            <a:ext cx="114300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FFFFFF"/>
                </a:solidFill>
                <a:latin typeface="Plus Jakarta Sans"/>
                <a:ea typeface="Plus Jakarta Sans"/>
                <a:cs typeface="Plus Jakarta Sans"/>
                <a:sym typeface="Plus Jakarta Sans"/>
              </a:rPr>
              <a:t>Baseline Benchmarks vs. The Granular Engine</a:t>
            </a:r>
            <a:endParaRPr/>
          </a:p>
        </p:txBody>
      </p:sp>
      <p:sp>
        <p:nvSpPr>
          <p:cNvPr id="370" name="Google Shape;370;p22"/>
          <p:cNvSpPr txBox="1"/>
          <p:nvPr/>
        </p:nvSpPr>
        <p:spPr>
          <a:xfrm>
            <a:off x="1066800" y="5298739"/>
            <a:ext cx="11125200" cy="192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50" b="1">
                <a:solidFill>
                  <a:srgbClr val="38BDF8"/>
                </a:solidFill>
                <a:latin typeface="Plus Jakarta Sans"/>
                <a:ea typeface="Plus Jakarta Sans"/>
                <a:cs typeface="Plus Jakarta Sans"/>
                <a:sym typeface="Plus Jakarta Sans"/>
              </a:rPr>
              <a:t>What this means:</a:t>
            </a:r>
            <a:endParaRPr sz="1600"/>
          </a:p>
        </p:txBody>
      </p:sp>
      <p:sp>
        <p:nvSpPr>
          <p:cNvPr id="371" name="Google Shape;371;p22"/>
          <p:cNvSpPr txBox="1"/>
          <p:nvPr/>
        </p:nvSpPr>
        <p:spPr>
          <a:xfrm>
            <a:off x="1047600" y="5574964"/>
            <a:ext cx="10191900" cy="509100"/>
          </a:xfrm>
          <a:prstGeom prst="rect">
            <a:avLst/>
          </a:prstGeom>
          <a:noFill/>
          <a:ln>
            <a:noFill/>
          </a:ln>
        </p:spPr>
        <p:txBody>
          <a:bodyPr spcFirstLastPara="1" wrap="square" lIns="0" tIns="0" rIns="0" bIns="0" anchor="t" anchorCtr="0">
            <a:spAutoFit/>
          </a:bodyPr>
          <a:lstStyle/>
          <a:p>
            <a:pPr marL="0" marR="0" lvl="0" indent="0" algn="l" rtl="0">
              <a:lnSpc>
                <a:spcPct val="144962"/>
              </a:lnSpc>
              <a:spcBef>
                <a:spcPts val="0"/>
              </a:spcBef>
              <a:spcAft>
                <a:spcPts val="0"/>
              </a:spcAft>
              <a:buNone/>
            </a:pPr>
            <a:r>
              <a:rPr lang="en-US" sz="1350">
                <a:solidFill>
                  <a:srgbClr val="E2E8F0"/>
                </a:solidFill>
                <a:latin typeface="Plus Jakarta Sans"/>
                <a:ea typeface="Plus Jakarta Sans"/>
                <a:cs typeface="Plus Jakarta Sans"/>
                <a:sym typeface="Plus Jakarta Sans"/>
              </a:rPr>
              <a:t>Traditional countywide averages underestimate true household living costs by up to $206 a month ($2,482 a year), proving that our hyper-local model is essential.</a:t>
            </a:r>
            <a:endParaRPr/>
          </a:p>
        </p:txBody>
      </p:sp>
      <p:sp>
        <p:nvSpPr>
          <p:cNvPr id="372" name="Google Shape;372;p22"/>
          <p:cNvSpPr txBox="1"/>
          <p:nvPr/>
        </p:nvSpPr>
        <p:spPr>
          <a:xfrm>
            <a:off x="1038225" y="2632769"/>
            <a:ext cx="35638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94A3B8"/>
                </a:solidFill>
                <a:latin typeface="Plus Jakarta Sans"/>
                <a:ea typeface="Plus Jakarta Sans"/>
                <a:cs typeface="Plus Jakarta Sans"/>
                <a:sym typeface="Plus Jakarta Sans"/>
              </a:rPr>
              <a:t>NAIVE REGIONAL BASELINE</a:t>
            </a:r>
            <a:endParaRPr/>
          </a:p>
        </p:txBody>
      </p:sp>
      <p:sp>
        <p:nvSpPr>
          <p:cNvPr id="373" name="Google Shape;373;p22"/>
          <p:cNvSpPr txBox="1"/>
          <p:nvPr/>
        </p:nvSpPr>
        <p:spPr>
          <a:xfrm>
            <a:off x="1038225" y="2880419"/>
            <a:ext cx="356387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F8FAFC"/>
                </a:solidFill>
                <a:latin typeface="JetBrains Mono"/>
                <a:ea typeface="JetBrains Mono"/>
                <a:cs typeface="JetBrains Mono"/>
                <a:sym typeface="JetBrains Mono"/>
              </a:rPr>
              <a:t>$1,684.90</a:t>
            </a:r>
            <a:endParaRPr/>
          </a:p>
        </p:txBody>
      </p:sp>
      <p:sp>
        <p:nvSpPr>
          <p:cNvPr id="374" name="Google Shape;374;p22"/>
          <p:cNvSpPr txBox="1"/>
          <p:nvPr/>
        </p:nvSpPr>
        <p:spPr>
          <a:xfrm>
            <a:off x="1038225" y="3394769"/>
            <a:ext cx="294635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94A3B8"/>
                </a:solidFill>
                <a:latin typeface="Plus Jakarta Sans"/>
                <a:ea typeface="Plus Jakarta Sans"/>
                <a:cs typeface="Plus Jakarta Sans"/>
                <a:sym typeface="Plus Jakarta Sans"/>
              </a:rPr>
              <a:t>Uniform county averages masking micro-variation</a:t>
            </a:r>
            <a:endParaRPr/>
          </a:p>
        </p:txBody>
      </p:sp>
      <p:sp>
        <p:nvSpPr>
          <p:cNvPr id="375" name="Google Shape;375;p22"/>
          <p:cNvSpPr txBox="1"/>
          <p:nvPr/>
        </p:nvSpPr>
        <p:spPr>
          <a:xfrm>
            <a:off x="4670375" y="2451794"/>
            <a:ext cx="35638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Plus Jakarta Sans"/>
                <a:ea typeface="Plus Jakarta Sans"/>
                <a:cs typeface="Plus Jakarta Sans"/>
                <a:sym typeface="Plus Jakarta Sans"/>
              </a:rPr>
              <a:t>ACTUAL GRANULAR RANGE</a:t>
            </a:r>
            <a:endParaRPr/>
          </a:p>
        </p:txBody>
      </p:sp>
      <p:sp>
        <p:nvSpPr>
          <p:cNvPr id="376" name="Google Shape;376;p22"/>
          <p:cNvSpPr txBox="1"/>
          <p:nvPr/>
        </p:nvSpPr>
        <p:spPr>
          <a:xfrm>
            <a:off x="4670375" y="2699444"/>
            <a:ext cx="2946350" cy="819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8BDF8"/>
                </a:solidFill>
                <a:latin typeface="JetBrains Mono"/>
                <a:ea typeface="JetBrains Mono"/>
                <a:cs typeface="JetBrains Mono"/>
                <a:sym typeface="JetBrains Mono"/>
              </a:rPr>
              <a:t>$1,675.99 – $1,891.76</a:t>
            </a:r>
            <a:endParaRPr/>
          </a:p>
        </p:txBody>
      </p:sp>
      <p:sp>
        <p:nvSpPr>
          <p:cNvPr id="377" name="Google Shape;377;p22"/>
          <p:cNvSpPr txBox="1"/>
          <p:nvPr/>
        </p:nvSpPr>
        <p:spPr>
          <a:xfrm>
            <a:off x="4670375" y="3575744"/>
            <a:ext cx="294635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94A3B8"/>
                </a:solidFill>
                <a:latin typeface="Plus Jakarta Sans"/>
                <a:ea typeface="Plus Jakarta Sans"/>
                <a:cs typeface="Plus Jakarta Sans"/>
                <a:sym typeface="Plus Jakarta Sans"/>
              </a:rPr>
              <a:t>True localized costs across the 279 ZIP codes</a:t>
            </a:r>
            <a:endParaRPr/>
          </a:p>
        </p:txBody>
      </p:sp>
      <p:sp>
        <p:nvSpPr>
          <p:cNvPr id="378" name="Google Shape;378;p22"/>
          <p:cNvSpPr txBox="1"/>
          <p:nvPr/>
        </p:nvSpPr>
        <p:spPr>
          <a:xfrm>
            <a:off x="8302525" y="2632769"/>
            <a:ext cx="35638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F43F5E"/>
                </a:solidFill>
                <a:latin typeface="Plus Jakarta Sans"/>
                <a:ea typeface="Plus Jakarta Sans"/>
                <a:cs typeface="Plus Jakarta Sans"/>
                <a:sym typeface="Plus Jakarta Sans"/>
              </a:rPr>
              <a:t>MAX UNDERESTIMATION BIAS</a:t>
            </a:r>
            <a:endParaRPr/>
          </a:p>
        </p:txBody>
      </p:sp>
      <p:sp>
        <p:nvSpPr>
          <p:cNvPr id="379" name="Google Shape;379;p22"/>
          <p:cNvSpPr txBox="1"/>
          <p:nvPr/>
        </p:nvSpPr>
        <p:spPr>
          <a:xfrm>
            <a:off x="8302525" y="2880419"/>
            <a:ext cx="356387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FB7185"/>
                </a:solidFill>
                <a:latin typeface="JetBrains Mono"/>
                <a:ea typeface="JetBrains Mono"/>
                <a:cs typeface="JetBrains Mono"/>
                <a:sym typeface="JetBrains Mono"/>
              </a:rPr>
              <a:t>+$206.86/mo</a:t>
            </a:r>
            <a:endParaRPr/>
          </a:p>
        </p:txBody>
      </p:sp>
      <p:sp>
        <p:nvSpPr>
          <p:cNvPr id="380" name="Google Shape;380;p22"/>
          <p:cNvSpPr txBox="1"/>
          <p:nvPr/>
        </p:nvSpPr>
        <p:spPr>
          <a:xfrm>
            <a:off x="8302525" y="3394769"/>
            <a:ext cx="294635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Plus Jakarta Sans"/>
                <a:ea typeface="Plus Jakarta Sans"/>
                <a:cs typeface="Plus Jakarta Sans"/>
                <a:sym typeface="Plus Jakarta Sans"/>
              </a:rPr>
              <a:t>$2,482.32/year hidden cost penalty in coastal zones</a:t>
            </a:r>
            <a:endParaRPr/>
          </a:p>
        </p:txBody>
      </p:sp>
      <p:sp>
        <p:nvSpPr>
          <p:cNvPr id="382" name="Google Shape;382;p22"/>
          <p:cNvSpPr txBox="1"/>
          <p:nvPr/>
        </p:nvSpPr>
        <p:spPr>
          <a:xfrm>
            <a:off x="10082570" y="346170"/>
            <a:ext cx="1446300" cy="3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dirty="0">
                <a:solidFill>
                  <a:schemeClr val="bg1"/>
                </a:solidFill>
                <a:latin typeface="Calibri"/>
                <a:ea typeface="Calibri"/>
                <a:cs typeface="Calibri"/>
                <a:sym typeface="Calibri"/>
              </a:rPr>
              <a:t>🎤 Jonah J</a:t>
            </a:r>
            <a:endParaRPr lang="en-US" sz="1900" dirty="0">
              <a:solidFill>
                <a:schemeClr val="bg1"/>
              </a:solidFill>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Table 1: Regional Cluster Archetypes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217</cp:revision>
  <dcterms:modified xsi:type="dcterms:W3CDTF">2026-09-30T00:37:56Z</dcterms:modified>
</cp:coreProperties>
</file>