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6858000" cx="12192000"/>
  <p:notesSz cx="6858000" cy="9144000"/>
  <p:embeddedFontLst>
    <p:embeddedFont>
      <p:font typeface="Montserrat SemiBold"/>
      <p:regular r:id="rId13"/>
      <p:bold r:id="rId14"/>
      <p:italic r:id="rId15"/>
      <p:boldItalic r:id="rId16"/>
    </p:embeddedFont>
    <p:embeddedFont>
      <p:font typeface="Montserrat"/>
      <p:bold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FC88855-C3D6-4DB8-9BC3-BF78A7BB8D15}">
  <a:tblStyle styleId="{9FC88855-C3D6-4DB8-9BC3-BF78A7BB8D1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5.xml"/><Relationship Id="rId22" Type="http://schemas.openxmlformats.org/officeDocument/2006/relationships/font" Target="fonts/Lato-boldItalic.fntdata"/><Relationship Id="rId10" Type="http://schemas.openxmlformats.org/officeDocument/2006/relationships/slide" Target="slides/slide4.xml"/><Relationship Id="rId21" Type="http://schemas.openxmlformats.org/officeDocument/2006/relationships/font" Target="fonts/Lato-italic.fntdata"/><Relationship Id="rId13" Type="http://schemas.openxmlformats.org/officeDocument/2006/relationships/font" Target="fonts/MontserratSemiBold-regular.fntdata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MontserratSemiBold-italic.fntdata"/><Relationship Id="rId14" Type="http://schemas.openxmlformats.org/officeDocument/2006/relationships/font" Target="fonts/MontserratSemiBold-bold.fntdata"/><Relationship Id="rId17" Type="http://schemas.openxmlformats.org/officeDocument/2006/relationships/font" Target="fonts/Montserrat-bold.fntdata"/><Relationship Id="rId16" Type="http://schemas.openxmlformats.org/officeDocument/2006/relationships/font" Target="fonts/MontserratSemiBold-boldItalic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Lato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Montserrat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Relationship Id="rId4" Type="http://schemas.openxmlformats.org/officeDocument/2006/relationships/image" Target="../media/image21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1.png"/><Relationship Id="rId8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Relationship Id="rId4" Type="http://schemas.openxmlformats.org/officeDocument/2006/relationships/image" Target="../media/image2.png"/><Relationship Id="rId5" Type="http://schemas.openxmlformats.org/officeDocument/2006/relationships/image" Target="../media/image16.png"/><Relationship Id="rId6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3.png"/><Relationship Id="rId4" Type="http://schemas.openxmlformats.org/officeDocument/2006/relationships/image" Target="../media/image10.png"/><Relationship Id="rId11" Type="http://schemas.openxmlformats.org/officeDocument/2006/relationships/image" Target="../media/image22.png"/><Relationship Id="rId10" Type="http://schemas.openxmlformats.org/officeDocument/2006/relationships/image" Target="../media/image11.png"/><Relationship Id="rId9" Type="http://schemas.openxmlformats.org/officeDocument/2006/relationships/image" Target="../media/image7.png"/><Relationship Id="rId5" Type="http://schemas.openxmlformats.org/officeDocument/2006/relationships/image" Target="../media/image24.png"/><Relationship Id="rId6" Type="http://schemas.openxmlformats.org/officeDocument/2006/relationships/image" Target="../media/image9.png"/><Relationship Id="rId7" Type="http://schemas.openxmlformats.org/officeDocument/2006/relationships/image" Target="../media/image12.png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Relationship Id="rId4" Type="http://schemas.openxmlformats.org/officeDocument/2006/relationships/image" Target="../media/image8.png"/><Relationship Id="rId11" Type="http://schemas.openxmlformats.org/officeDocument/2006/relationships/image" Target="../media/image18.png"/><Relationship Id="rId10" Type="http://schemas.openxmlformats.org/officeDocument/2006/relationships/image" Target="../media/image20.png"/><Relationship Id="rId9" Type="http://schemas.openxmlformats.org/officeDocument/2006/relationships/image" Target="../media/image19.png"/><Relationship Id="rId5" Type="http://schemas.openxmlformats.org/officeDocument/2006/relationships/image" Target="../media/image17.png"/><Relationship Id="rId6" Type="http://schemas.openxmlformats.org/officeDocument/2006/relationships/image" Target="../media/image13.png"/><Relationship Id="rId7" Type="http://schemas.openxmlformats.org/officeDocument/2006/relationships/image" Target="../media/image15.png"/><Relationship Id="rId8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" name="Google Shape;85;p13"/>
          <p:cNvGrpSpPr/>
          <p:nvPr/>
        </p:nvGrpSpPr>
        <p:grpSpPr>
          <a:xfrm>
            <a:off x="952500" y="1524000"/>
            <a:ext cx="5524500" cy="3833327"/>
            <a:chOff x="0" y="0"/>
            <a:chExt cx="5524500" cy="3524250"/>
          </a:xfrm>
        </p:grpSpPr>
        <p:sp>
          <p:nvSpPr>
            <p:cNvPr id="86" name="Google Shape;86;p13"/>
            <p:cNvSpPr txBox="1"/>
            <p:nvPr/>
          </p:nvSpPr>
          <p:spPr>
            <a:xfrm>
              <a:off x="0" y="0"/>
              <a:ext cx="5524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0B9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Capstone Project Phase 1 • Fall Semester 2026</a:t>
              </a:r>
              <a:endParaRPr b="1" sz="1100">
                <a:solidFill>
                  <a:srgbClr val="10B9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7" name="Google Shape;87;p13"/>
            <p:cNvSpPr txBox="1"/>
            <p:nvPr/>
          </p:nvSpPr>
          <p:spPr>
            <a:xfrm>
              <a:off x="0" y="428625"/>
              <a:ext cx="55245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700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True Homeownership &amp; Cost-of-Living Predictor</a:t>
              </a:r>
              <a:endParaRPr b="1" sz="37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8" name="Google Shape;88;p13"/>
            <p:cNvSpPr txBox="1"/>
            <p:nvPr/>
          </p:nvSpPr>
          <p:spPr>
            <a:xfrm>
              <a:off x="0" y="2571750"/>
              <a:ext cx="5524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A Hyper-Local Real Estate Affordability Platform</a:t>
              </a:r>
              <a:endParaRPr b="0" sz="18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89" name="Google Shape;89;p13"/>
          <p:cNvGrpSpPr/>
          <p:nvPr/>
        </p:nvGrpSpPr>
        <p:grpSpPr>
          <a:xfrm>
            <a:off x="7239000" y="1524000"/>
            <a:ext cx="4000500" cy="4232910"/>
            <a:chOff x="0" y="0"/>
            <a:chExt cx="4000500" cy="3810000"/>
          </a:xfrm>
        </p:grpSpPr>
        <p:sp>
          <p:nvSpPr>
            <p:cNvPr id="90" name="Google Shape;90;p13"/>
            <p:cNvSpPr/>
            <p:nvPr/>
          </p:nvSpPr>
          <p:spPr>
            <a:xfrm>
              <a:off x="0" y="0"/>
              <a:ext cx="4000500" cy="3810000"/>
            </a:xfrm>
            <a:prstGeom prst="roundRect">
              <a:avLst>
                <a:gd fmla="val 30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3"/>
            <p:cNvSpPr/>
            <p:nvPr/>
          </p:nvSpPr>
          <p:spPr>
            <a:xfrm>
              <a:off x="0" y="114300"/>
              <a:ext cx="0" cy="3581400"/>
            </a:xfrm>
            <a:custGeom>
              <a:rect b="b" l="l" r="r" t="t"/>
              <a:pathLst>
                <a:path extrusionOk="0" fill="none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FFFFFF"/>
            </a:solidFill>
            <a:ln cap="rnd" cmpd="sng" w="57150">
              <a:solidFill>
                <a:srgbClr val="10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3"/>
            <p:cNvSpPr txBox="1"/>
            <p:nvPr/>
          </p:nvSpPr>
          <p:spPr>
            <a:xfrm>
              <a:off x="285750" y="285750"/>
              <a:ext cx="3429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50">
                <a:solidFill>
                  <a:srgbClr val="10B9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10B9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Team Members</a:t>
              </a:r>
              <a:endParaRPr b="1" sz="1150">
                <a:solidFill>
                  <a:srgbClr val="10B9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Brandon Matias</a:t>
              </a:r>
              <a:endParaRPr sz="14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Jonah Joseph</a:t>
              </a:r>
              <a:endParaRPr b="0" sz="14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Khadijah Patience</a:t>
              </a:r>
              <a:endParaRPr b="0" sz="14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Taki Eddine Boubekri</a:t>
              </a:r>
              <a:endParaRPr b="0" sz="14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50">
                <a:solidFill>
                  <a:srgbClr val="10B9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50">
                <a:solidFill>
                  <a:srgbClr val="10B9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10B9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Course &amp; Faculty</a:t>
              </a:r>
              <a:endParaRPr b="1" sz="1150">
                <a:solidFill>
                  <a:srgbClr val="10B9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Professor:</a:t>
              </a:r>
              <a:r>
                <a:rPr lang="en-US" sz="13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 Sitaram Ayyagari</a:t>
              </a:r>
              <a:endParaRPr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Course:</a:t>
              </a:r>
              <a:r>
                <a:rPr lang="en-US" sz="13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 ITAI-2277 AI Resources &amp; References (CRN 21496)</a:t>
              </a:r>
              <a:endParaRPr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52587"/>
            <a:ext cx="5238750" cy="4352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652587"/>
            <a:ext cx="5238750" cy="4352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962025" y="2043112"/>
            <a:ext cx="301037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Ideas on the Table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962025" y="2462212"/>
            <a:ext cx="2867025" cy="190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6772275" y="2043112"/>
            <a:ext cx="319039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Finalization Criteria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6772275" y="2462212"/>
            <a:ext cx="3038475" cy="190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4" name="Google Shape;10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071687"/>
            <a:ext cx="2000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2071687"/>
            <a:ext cx="2000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7038975" y="2719387"/>
            <a:ext cx="419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16-Week Feasibility: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Preference for projects avoiding early data collection or hardware delays.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7038975" y="3443287"/>
            <a:ext cx="419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Demo Impact: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Must yield a high-quality, practical presentation (e.g., interactive web app).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7038975" y="4167187"/>
            <a:ext cx="419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Technical Diversity: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Integration of Data Engineering, Tabular ML, and Web UI disciplines.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7038975" y="4891087"/>
            <a:ext cx="419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Hardware Independence: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Low to zero physical hardware dependencies to minimize project risk.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F172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Project Selection Process</a:t>
            </a:r>
            <a:endParaRPr/>
          </a:p>
        </p:txBody>
      </p:sp>
      <p:grpSp>
        <p:nvGrpSpPr>
          <p:cNvPr id="111" name="Google Shape;111;p14"/>
          <p:cNvGrpSpPr/>
          <p:nvPr/>
        </p:nvGrpSpPr>
        <p:grpSpPr>
          <a:xfrm>
            <a:off x="962025" y="2905650"/>
            <a:ext cx="4457700" cy="2723100"/>
            <a:chOff x="962025" y="2719387"/>
            <a:chExt cx="4457700" cy="2723100"/>
          </a:xfrm>
        </p:grpSpPr>
        <p:sp>
          <p:nvSpPr>
            <p:cNvPr id="112" name="Google Shape;112;p14"/>
            <p:cNvSpPr txBox="1"/>
            <p:nvPr/>
          </p:nvSpPr>
          <p:spPr>
            <a:xfrm>
              <a:off x="1228725" y="2719387"/>
              <a:ext cx="4191000" cy="5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Smart Agriculture Sorter:</a:t>
              </a:r>
              <a:r>
                <a:rPr b="0" i="0" lang="en-US" sz="1500" u="none" cap="none" strike="noStrike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 CV and robotics system for classifying produce ripeness/defects.</a:t>
              </a:r>
              <a:endParaRPr/>
            </a:p>
          </p:txBody>
        </p:sp>
        <p:sp>
          <p:nvSpPr>
            <p:cNvPr id="113" name="Google Shape;113;p14"/>
            <p:cNvSpPr txBox="1"/>
            <p:nvPr/>
          </p:nvSpPr>
          <p:spPr>
            <a:xfrm>
              <a:off x="1228725" y="3443287"/>
              <a:ext cx="41910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Gaming Highlight Extractor:</a:t>
              </a:r>
              <a:r>
                <a:rPr b="0" i="0" lang="en-US" sz="1500" u="none" cap="none" strike="noStrike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 Automated post-match video analyzer detecting </a:t>
              </a:r>
              <a:r>
                <a:rPr lang="en-US" sz="15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top gameplay reels.</a:t>
              </a:r>
              <a:endParaRPr/>
            </a:p>
          </p:txBody>
        </p:sp>
        <p:pic>
          <p:nvPicPr>
            <p:cNvPr descr="image.png" id="114" name="Google Shape;114;p1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962025" y="2719387"/>
              <a:ext cx="95250" cy="200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115" name="Google Shape;115;p1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962025" y="3443287"/>
              <a:ext cx="95250" cy="2000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6" name="Google Shape;116;p14"/>
            <p:cNvGrpSpPr/>
            <p:nvPr/>
          </p:nvGrpSpPr>
          <p:grpSpPr>
            <a:xfrm>
              <a:off x="962025" y="4519087"/>
              <a:ext cx="4457700" cy="923400"/>
              <a:chOff x="962025" y="4167187"/>
              <a:chExt cx="4457700" cy="923400"/>
            </a:xfrm>
          </p:grpSpPr>
          <p:sp>
            <p:nvSpPr>
              <p:cNvPr id="117" name="Google Shape;117;p14"/>
              <p:cNvSpPr txBox="1"/>
              <p:nvPr/>
            </p:nvSpPr>
            <p:spPr>
              <a:xfrm>
                <a:off x="1228725" y="4167187"/>
                <a:ext cx="4191000" cy="92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500" u="none" cap="none" strike="noStrike">
                    <a:solidFill>
                      <a:srgbClr val="475569"/>
                    </a:solidFill>
                    <a:latin typeface="Lato"/>
                    <a:ea typeface="Lato"/>
                    <a:cs typeface="Lato"/>
                    <a:sym typeface="Lato"/>
                  </a:rPr>
                  <a:t>Cost-of-Living Predictor:</a:t>
                </a:r>
                <a:r>
                  <a:rPr b="0" i="0" lang="en-US" sz="1500" u="none" cap="none" strike="noStrike">
                    <a:solidFill>
                      <a:srgbClr val="475569"/>
                    </a:solidFill>
                    <a:latin typeface="Lato"/>
                    <a:ea typeface="Lato"/>
                    <a:cs typeface="Lato"/>
                    <a:sym typeface="Lato"/>
                  </a:rPr>
                  <a:t> Data-driven platform forecasting total itemized expenses based on ZIP code to determine true affordability. (Selected)</a:t>
                </a:r>
                <a:endParaRPr/>
              </a:p>
            </p:txBody>
          </p:sp>
          <p:pic>
            <p:nvPicPr>
              <p:cNvPr descr="image.png" id="118" name="Google Shape;118;p14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962025" y="4167187"/>
                <a:ext cx="95250" cy="2000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descr="image.png" id="119" name="Google Shape;119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72275" y="2719387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72275" y="3443287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72275" y="4167187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72275" y="4891087"/>
            <a:ext cx="952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214437"/>
            <a:ext cx="52387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571500" y="1404937"/>
            <a:ext cx="5238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Concept: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Home buyers understand mortgage rates, but often overlook day-to-day carrying costs. Our platform predicts the cost of living for </a:t>
            </a:r>
            <a:r>
              <a:rPr lang="en-US" sz="15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select 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ZIP codes.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571500" y="2452687"/>
            <a:ext cx="5238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system aggregates location-based data to estimate utility expenses (water, electric), insurance requirements (flood, storm), and regional grocery indexes.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571500" y="3643312"/>
            <a:ext cx="306038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Scope &amp; Implementation</a:t>
            </a: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571500" y="3967162"/>
            <a:ext cx="2914650" cy="190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838200" y="4271962"/>
            <a:ext cx="49720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Industry / Sector: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Real Estate, PropTech &amp; Consumer Finance.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838200" y="4995862"/>
            <a:ext cx="49720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Geographic Scope: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Nationwide (United States), localized at the ZIP code level.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838200" y="5719762"/>
            <a:ext cx="49720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Target Audience: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Prospective homeowners verifying total financial affordability.</a:t>
            </a:r>
            <a:endParaRPr/>
          </a:p>
        </p:txBody>
      </p:sp>
      <p:pic>
        <p:nvPicPr>
          <p:cNvPr descr="image.png" id="136" name="Google Shape;13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214437"/>
            <a:ext cx="52387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5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F172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Project Idea &amp; Use Case</a:t>
            </a:r>
            <a:endParaRPr/>
          </a:p>
        </p:txBody>
      </p:sp>
      <p:pic>
        <p:nvPicPr>
          <p:cNvPr descr="image.png" id="138" name="Google Shape;13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71962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995862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719762"/>
            <a:ext cx="952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47850"/>
            <a:ext cx="2547937" cy="396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5187" y="1847850"/>
            <a:ext cx="2547937" cy="396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1847850"/>
            <a:ext cx="2547937" cy="396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72562" y="1847850"/>
            <a:ext cx="2547937" cy="396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 txBox="1"/>
          <p:nvPr/>
        </p:nvSpPr>
        <p:spPr>
          <a:xfrm>
            <a:off x="819150" y="2905125"/>
            <a:ext cx="164020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Data Sources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819150" y="3495675"/>
            <a:ext cx="2052637" cy="154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Aggregated public tax records, municipal utility rate datasets, FEMA flood maps, and regional Consumer Price Index (CPI) data.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3652837" y="2905125"/>
            <a:ext cx="196024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Model Category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3652837" y="3495675"/>
            <a:ext cx="2052637" cy="154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Multi-Output Tabular Regression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for financial forecasting and Geospatial Risk Analysis mapping environmental insurance needs.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6486525" y="2905125"/>
            <a:ext cx="175021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User Interface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6486525" y="3495675"/>
            <a:ext cx="2052637" cy="154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Interactive web dashboard developed using Python frameworks (</a:t>
            </a: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Flask or Streamlit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) for user-friendly, real-time geographic queries.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9320212" y="2905125"/>
            <a:ext cx="201025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Hardware / Infra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9320212" y="3495675"/>
            <a:ext cx="2052637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Standard development laptops (no physical hardware required). Pipeline and modeling facilitated by free cloud compute (</a:t>
            </a: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Google Colab / GCP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/>
          </a:p>
        </p:txBody>
      </p:sp>
      <p:pic>
        <p:nvPicPr>
          <p:cNvPr descr="image.png" id="158" name="Google Shape;15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150" y="2228850"/>
            <a:ext cx="35242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652837" y="2228850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86525" y="2228850"/>
            <a:ext cx="50482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320212" y="2228850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6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F172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Technical Architecture &amp; Stack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/>
          <p:nvPr/>
        </p:nvSpPr>
        <p:spPr>
          <a:xfrm>
            <a:off x="571500" y="1809750"/>
            <a:ext cx="11049000" cy="40386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9" name="Google Shape;169;p17"/>
          <p:cNvGraphicFramePr/>
          <p:nvPr/>
        </p:nvGraphicFramePr>
        <p:xfrm>
          <a:off x="571500" y="18097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{9FC88855-C3D6-4DB8-9BC3-BF78A7BB8D15}</a:tableStyleId>
              </a:tblPr>
              <a:tblGrid>
                <a:gridCol w="2207875"/>
                <a:gridCol w="2759875"/>
                <a:gridCol w="3863725"/>
                <a:gridCol w="2208025"/>
              </a:tblGrid>
              <a:tr h="807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Team Member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Role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Primary Tasks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Resources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807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Khadijah Patience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 Engineer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Sourcing tax, utility, and insurance datasets; building data pipelines.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7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Jonah Joseph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ML &amp; Data Specialist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Developing Tabular Regression models for cost prediction &amp; risk logic.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807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Brandon Matias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Full-Stack UI Dev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Building the web dashboard, integrating models via API, ensuring UX.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7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Taki Eddine Boubekri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Project Manager &amp; QA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System integration, version control, end-to-end testing, and docs.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70" name="Google Shape;170;p17"/>
          <p:cNvSpPr/>
          <p:nvPr/>
        </p:nvSpPr>
        <p:spPr>
          <a:xfrm>
            <a:off x="576262" y="2328862"/>
            <a:ext cx="22078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2784127" y="2328862"/>
            <a:ext cx="27598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5543996" y="2328862"/>
            <a:ext cx="38637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9407723" y="2328862"/>
            <a:ext cx="22080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576262" y="4176712"/>
            <a:ext cx="22078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2784127" y="4176712"/>
            <a:ext cx="27598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5543996" y="4176712"/>
            <a:ext cx="38637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9407723" y="4176712"/>
            <a:ext cx="22080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576262" y="5100637"/>
            <a:ext cx="22078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2784127" y="5100637"/>
            <a:ext cx="27598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5543996" y="5100637"/>
            <a:ext cx="38637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9407723" y="5100637"/>
            <a:ext cx="22080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2" name="Google Shape;182;p17"/>
          <p:cNvGrpSpPr/>
          <p:nvPr/>
        </p:nvGrpSpPr>
        <p:grpSpPr>
          <a:xfrm>
            <a:off x="9603000" y="2747989"/>
            <a:ext cx="1171575" cy="514331"/>
            <a:chOff x="9598223" y="2495550"/>
            <a:chExt cx="1171575" cy="552450"/>
          </a:xfrm>
        </p:grpSpPr>
        <p:pic>
          <p:nvPicPr>
            <p:cNvPr descr="image.png" id="183" name="Google Shape;183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598223" y="2495550"/>
              <a:ext cx="1171575" cy="247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184" name="Google Shape;184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598223" y="2800350"/>
              <a:ext cx="923925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5" name="Google Shape;185;p17"/>
          <p:cNvGrpSpPr/>
          <p:nvPr/>
        </p:nvGrpSpPr>
        <p:grpSpPr>
          <a:xfrm>
            <a:off x="9603000" y="3545711"/>
            <a:ext cx="962025" cy="514307"/>
            <a:chOff x="9579173" y="3488525"/>
            <a:chExt cx="962025" cy="557213"/>
          </a:xfrm>
        </p:grpSpPr>
        <p:pic>
          <p:nvPicPr>
            <p:cNvPr descr="image.png" id="186" name="Google Shape;186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579173" y="3488525"/>
              <a:ext cx="962025" cy="247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187" name="Google Shape;187;p1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579173" y="3798088"/>
              <a:ext cx="781050" cy="247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8" name="Google Shape;188;p17"/>
          <p:cNvGrpSpPr/>
          <p:nvPr/>
        </p:nvGrpSpPr>
        <p:grpSpPr>
          <a:xfrm>
            <a:off x="9598236" y="4367200"/>
            <a:ext cx="1181100" cy="552450"/>
            <a:chOff x="9598223" y="4343400"/>
            <a:chExt cx="1181100" cy="552450"/>
          </a:xfrm>
        </p:grpSpPr>
        <p:pic>
          <p:nvPicPr>
            <p:cNvPr descr="image.png" id="189" name="Google Shape;189;p1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9598223" y="4343400"/>
              <a:ext cx="1181100" cy="247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190" name="Google Shape;190;p1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9598223" y="4648200"/>
              <a:ext cx="742950" cy="2476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image.png" id="191" name="Google Shape;191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598223" y="5324475"/>
            <a:ext cx="666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369748" y="5324475"/>
            <a:ext cx="8572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7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0F172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Project Plan &amp; Resource Allocation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8" name="Google Shape;19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8"/>
          <p:cNvSpPr txBox="1"/>
          <p:nvPr/>
        </p:nvSpPr>
        <p:spPr>
          <a:xfrm>
            <a:off x="3750706" y="2438400"/>
            <a:ext cx="4690586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Questions?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4631398" y="3821525"/>
            <a:ext cx="29292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Thank you for your time.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